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64" r:id="rId3"/>
    <p:sldId id="257" r:id="rId4"/>
    <p:sldId id="258" r:id="rId5"/>
    <p:sldId id="266" r:id="rId6"/>
    <p:sldId id="259" r:id="rId7"/>
    <p:sldId id="260" r:id="rId8"/>
    <p:sldId id="261" r:id="rId9"/>
    <p:sldId id="267" r:id="rId10"/>
    <p:sldId id="262" r:id="rId11"/>
    <p:sldId id="268" r:id="rId12"/>
    <p:sldId id="269" r:id="rId13"/>
    <p:sldId id="270" r:id="rId14"/>
    <p:sldId id="272" r:id="rId15"/>
    <p:sldId id="271" r:id="rId16"/>
    <p:sldId id="263" r:id="rId17"/>
    <p:sldId id="273" r:id="rId18"/>
    <p:sldId id="265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2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맑은 고딕" panose="020B0503020000020004" pitchFamily="50" charset="-127"/>
        <a:ea typeface="맑은 고딕" panose="020B0503020000020004" pitchFamily="50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8A5EE11-8732-52BA-79D4-123F0789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122c18de_0_0:notes">
            <a:extLst>
              <a:ext uri="{FF2B5EF4-FFF2-40B4-BE49-F238E27FC236}">
                <a16:creationId xmlns:a16="http://schemas.microsoft.com/office/drawing/2014/main" id="{F0C2EF6D-BA89-9B9D-54B1-FEDBC76B3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122c18de_0_0:notes">
            <a:extLst>
              <a:ext uri="{FF2B5EF4-FFF2-40B4-BE49-F238E27FC236}">
                <a16:creationId xmlns:a16="http://schemas.microsoft.com/office/drawing/2014/main" id="{06D8645E-A2C7-53C2-6488-0CCC07DD4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2218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122c18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122c18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122c18d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122c18d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5E4059B-2347-AF53-1ECD-C80471F5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122c18de_0_9:notes">
            <a:extLst>
              <a:ext uri="{FF2B5EF4-FFF2-40B4-BE49-F238E27FC236}">
                <a16:creationId xmlns:a16="http://schemas.microsoft.com/office/drawing/2014/main" id="{7D6FE0EA-C0F1-E87C-1965-50FEA559D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122c18de_0_9:notes">
            <a:extLst>
              <a:ext uri="{FF2B5EF4-FFF2-40B4-BE49-F238E27FC236}">
                <a16:creationId xmlns:a16="http://schemas.microsoft.com/office/drawing/2014/main" id="{33B2EF4C-9A1F-8195-FA4E-F0E8FCDEE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2060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122c18d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122c18d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e122c18d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e122c18d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122c18d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e122c18d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009AC61-E034-EBD7-5BB5-D3BF13D4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122c18de_0_24:notes">
            <a:extLst>
              <a:ext uri="{FF2B5EF4-FFF2-40B4-BE49-F238E27FC236}">
                <a16:creationId xmlns:a16="http://schemas.microsoft.com/office/drawing/2014/main" id="{D362D29D-3DCB-15B7-0B8F-BEA3BF8275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e122c18de_0_24:notes">
            <a:extLst>
              <a:ext uri="{FF2B5EF4-FFF2-40B4-BE49-F238E27FC236}">
                <a16:creationId xmlns:a16="http://schemas.microsoft.com/office/drawing/2014/main" id="{908CA003-AFD6-6ADB-C255-E20FC55EB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1400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122c18d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122c18d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648190F8-B37D-BA2D-1281-D639445D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122c18de_0_29:notes">
            <a:extLst>
              <a:ext uri="{FF2B5EF4-FFF2-40B4-BE49-F238E27FC236}">
                <a16:creationId xmlns:a16="http://schemas.microsoft.com/office/drawing/2014/main" id="{36A4DD5E-7520-A993-25C9-697962561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122c18de_0_29:notes">
            <a:extLst>
              <a:ext uri="{FF2B5EF4-FFF2-40B4-BE49-F238E27FC236}">
                <a16:creationId xmlns:a16="http://schemas.microsoft.com/office/drawing/2014/main" id="{4D021BCB-8A83-8C35-EB90-A29D78915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973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CAA0001C-420C-25BA-21FF-9BCC799F5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122c18de_0_29:notes">
            <a:extLst>
              <a:ext uri="{FF2B5EF4-FFF2-40B4-BE49-F238E27FC236}">
                <a16:creationId xmlns:a16="http://schemas.microsoft.com/office/drawing/2014/main" id="{42C7E2BA-1805-4551-0637-A8099CDB7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122c18de_0_29:notes">
            <a:extLst>
              <a:ext uri="{FF2B5EF4-FFF2-40B4-BE49-F238E27FC236}">
                <a16:creationId xmlns:a16="http://schemas.microsoft.com/office/drawing/2014/main" id="{B9420ED6-B8EA-D532-357F-CF7A4C38A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2656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0D277F29-F743-9512-4A15-F7A25E14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122c18de_0_29:notes">
            <a:extLst>
              <a:ext uri="{FF2B5EF4-FFF2-40B4-BE49-F238E27FC236}">
                <a16:creationId xmlns:a16="http://schemas.microsoft.com/office/drawing/2014/main" id="{46ADDF5C-6C8D-49F8-4AD5-8AD404B8C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122c18de_0_29:notes">
            <a:extLst>
              <a:ext uri="{FF2B5EF4-FFF2-40B4-BE49-F238E27FC236}">
                <a16:creationId xmlns:a16="http://schemas.microsoft.com/office/drawing/2014/main" id="{03875F1B-8995-74FF-4B9A-A44F0331F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8233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BA563E4B-1A36-9B24-44A6-3CFBA76FF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122c18de_0_29:notes">
            <a:extLst>
              <a:ext uri="{FF2B5EF4-FFF2-40B4-BE49-F238E27FC236}">
                <a16:creationId xmlns:a16="http://schemas.microsoft.com/office/drawing/2014/main" id="{EAA765CB-6455-2BCC-DC3C-DAB63A661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122c18de_0_29:notes">
            <a:extLst>
              <a:ext uri="{FF2B5EF4-FFF2-40B4-BE49-F238E27FC236}">
                <a16:creationId xmlns:a16="http://schemas.microsoft.com/office/drawing/2014/main" id="{A9E1B768-14A5-A364-591E-FEB0B26FC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1048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2D101B18-D425-8CF0-5A92-9D26390DB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122c18de_0_29:notes">
            <a:extLst>
              <a:ext uri="{FF2B5EF4-FFF2-40B4-BE49-F238E27FC236}">
                <a16:creationId xmlns:a16="http://schemas.microsoft.com/office/drawing/2014/main" id="{8CE3F8BD-6FC8-BA0C-32B3-BF649B8DF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e122c18de_0_29:notes">
            <a:extLst>
              <a:ext uri="{FF2B5EF4-FFF2-40B4-BE49-F238E27FC236}">
                <a16:creationId xmlns:a16="http://schemas.microsoft.com/office/drawing/2014/main" id="{493B6446-10FC-A074-BA05-5A1DDBC83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207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122c18d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122c18d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BF467B8-0C0D-9E2E-3FB6-1757A84C1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122c18de_0_35:notes">
            <a:extLst>
              <a:ext uri="{FF2B5EF4-FFF2-40B4-BE49-F238E27FC236}">
                <a16:creationId xmlns:a16="http://schemas.microsoft.com/office/drawing/2014/main" id="{E59C3645-0331-1723-F846-EBD907CE3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122c18de_0_35:notes">
            <a:extLst>
              <a:ext uri="{FF2B5EF4-FFF2-40B4-BE49-F238E27FC236}">
                <a16:creationId xmlns:a16="http://schemas.microsoft.com/office/drawing/2014/main" id="{EBFEF5BD-9D29-EC2A-EE08-6F8B8160B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2173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3307C9A-E597-A59C-8642-3E0DE3C3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6BBCAE8-E96F-2F75-4B75-00D64015E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9342FCE-5FD0-6AA0-9B50-29A44AF71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924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509818"/>
            <a:ext cx="8520600" cy="1068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400" dirty="0"/>
              <a:t>2025</a:t>
            </a:r>
            <a:r>
              <a:rPr lang="ko-KR" altLang="en-US" sz="1400" dirty="0"/>
              <a:t>년 </a:t>
            </a:r>
            <a:r>
              <a:rPr lang="en-US" altLang="ko-KR" sz="1400" dirty="0"/>
              <a:t>2</a:t>
            </a:r>
            <a:r>
              <a:rPr lang="ko-KR" altLang="en-US" sz="1400" dirty="0"/>
              <a:t>학기 </a:t>
            </a:r>
            <a:r>
              <a:rPr lang="en-US" altLang="ko-KR" sz="1400" dirty="0"/>
              <a:t>GITA401 </a:t>
            </a:r>
            <a:r>
              <a:rPr lang="ko-KR" altLang="en-US" sz="1400" dirty="0"/>
              <a:t>강화학습의 기초 </a:t>
            </a:r>
            <a:r>
              <a:rPr lang="en-US" altLang="ko-KR" sz="1400" dirty="0"/>
              <a:t>Project</a:t>
            </a:r>
            <a:endParaRPr lang="en-US" altLang="ko" sz="1400" dirty="0"/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dirty="0"/>
              <a:t>AI·SW 대학원</a:t>
            </a:r>
            <a:r>
              <a:rPr lang="en-US" altLang="ko" sz="1400" dirty="0"/>
              <a:t> </a:t>
            </a:r>
            <a:r>
              <a:rPr lang="ko" sz="1400" dirty="0"/>
              <a:t>데이터사이언스·인공지능전공</a:t>
            </a:r>
            <a:endParaRPr sz="1400" dirty="0"/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400" dirty="0"/>
              <a:t>44</a:t>
            </a:r>
            <a:r>
              <a:rPr lang="ko-KR" altLang="en-US" sz="1400" dirty="0"/>
              <a:t>조 </a:t>
            </a:r>
            <a:r>
              <a:rPr lang="ko" sz="1400" dirty="0"/>
              <a:t>A70027 강보현</a:t>
            </a:r>
            <a:endParaRPr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990760A-559B-57CC-5F03-43B420172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32" y="797078"/>
            <a:ext cx="7535343" cy="2460195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330189CF-5BDE-6F82-8ECA-5C98C23AF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276" y="977397"/>
            <a:ext cx="7147453" cy="173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itchFamily="34" charset="0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itchFamily="34" charset="0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itchFamily="34" charset="0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itchFamily="34" charset="0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itchFamily="34" charset="0"/>
              </a:defRPr>
            </a:lvl9pPr>
          </a:lstStyle>
          <a:p>
            <a:pPr algn="ctr" eaLnBrk="1" hangingPunct="1">
              <a:lnSpc>
                <a:spcPct val="200000"/>
              </a:lnSpc>
            </a:pPr>
            <a:r>
              <a:rPr lang="ko-KR" altLang="en-US" sz="4000" b="1" spc="6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Black" panose="020B0A02040204020203" pitchFamily="34" charset="0"/>
              </a:rPr>
              <a:t>강화학습 </a:t>
            </a:r>
            <a:r>
              <a:rPr lang="en-US" altLang="ko-KR" sz="4000" b="1" spc="6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Black" panose="020B0A02040204020203" pitchFamily="34" charset="0"/>
              </a:rPr>
              <a:t>Project</a:t>
            </a:r>
          </a:p>
          <a:p>
            <a:pPr algn="ctr">
              <a:lnSpc>
                <a:spcPct val="150000"/>
              </a:lnSpc>
            </a:pPr>
            <a:r>
              <a:rPr lang="ko-KR" altLang="en-US" sz="2000" b="1" spc="6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Black" panose="020B0A02040204020203" pitchFamily="34" charset="0"/>
              </a:rPr>
              <a:t>강화학습을 활용한 광고 완전 시청 최적화</a:t>
            </a:r>
            <a:endParaRPr lang="ru-RU" altLang="ko-KR" sz="2000" b="1" spc="600" dirty="0">
              <a:solidFill>
                <a:schemeClr val="bg2">
                  <a:lumMod val="25000"/>
                </a:schemeClr>
              </a:solidFill>
              <a:latin typeface="나눔스퀘어 ExtraBold" panose="020B0600000101010101" pitchFamily="50" charset="-127"/>
              <a:ea typeface="맑은 고딕" panose="020B0503020000020004" pitchFamily="50" charset="-127"/>
              <a:cs typeface="Segoe UI Black" panose="020B0A02040204020203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FBDE7-1C7F-9C46-1BE2-1F137B9721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</a:t>
            </a:fld>
            <a:endParaRPr lang="ko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7B4CAC9-9F1A-3DA2-58ED-ED24B97C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DFED13D8-286A-A35B-6817-64C6E9D120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목차</a:t>
            </a:r>
            <a:endParaRPr sz="2500" b="1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F4526B2D-8D4A-EE28-4331-5D960D002FD2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6EC1C50C-093E-7D0F-BF07-F3C965F97547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6DE64B9A-13D4-0B8F-FF79-EE983D8D2259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A83A75E-F2DB-4AC4-78E8-9DF2835E1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75203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프로젝트 주제 및 목표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실행환경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데이터셋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/>
              <a:t>State, Action, Reward </a:t>
            </a:r>
            <a:r>
              <a:rPr lang="ko-KR" altLang="en-US" sz="1600" dirty="0"/>
              <a:t>설계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강화학습 알고리즘 및 </a:t>
            </a:r>
            <a:r>
              <a:rPr lang="en-US" altLang="ko-KR" sz="1600" dirty="0"/>
              <a:t>hyperparameter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실험 셋업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평가 지표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실험 결과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논의 및 결론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앞으로의 개선사항과 보완점</a:t>
            </a:r>
            <a:endParaRPr lang="en-US" altLang="ko-KR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ko-KR" altLang="en-US" sz="160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3D623A-035F-36C1-0352-FAE3476495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2</a:t>
            </a:fld>
            <a:endParaRPr lang="ko" altLang="en-US" dirty="0"/>
          </a:p>
        </p:txBody>
      </p:sp>
    </p:spTree>
    <p:extLst>
      <p:ext uri="{BB962C8B-B14F-4D97-AF65-F5344CB8AC3E}">
        <p14:creationId xmlns:p14="http://schemas.microsoft.com/office/powerpoint/2010/main" val="80012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프로젝트 주제 및 목표</a:t>
            </a:r>
            <a:endParaRPr sz="2500"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609672"/>
            <a:ext cx="8520600" cy="2904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/>
              <a:t>  “</a:t>
            </a:r>
            <a:r>
              <a:rPr lang="ko" dirty="0"/>
              <a:t>강화학습을 활용한 광고 완전 시청 최적화</a:t>
            </a:r>
            <a:r>
              <a:rPr lang="en-US" altLang="ko" dirty="0"/>
              <a:t>”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altLang="ko-KR" dirty="0"/>
          </a:p>
          <a:p>
            <a:pPr marL="114300" lvl="0" indent="0">
              <a:lnSpc>
                <a:spcPct val="150000"/>
              </a:lnSpc>
              <a:buNone/>
            </a:pPr>
            <a:r>
              <a:rPr lang="en-US" altLang="ko-KR" sz="1400" dirty="0"/>
              <a:t>IPTV </a:t>
            </a:r>
            <a:r>
              <a:rPr lang="ko-KR" altLang="en-US" sz="1400" dirty="0"/>
              <a:t>고객의 세그먼트 정보와 광고 시청 로그를 활용하여</a:t>
            </a:r>
            <a:r>
              <a:rPr lang="en-US" altLang="ko-KR" sz="1400" dirty="0"/>
              <a:t>,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ko-KR" altLang="en-US" sz="1400" dirty="0"/>
              <a:t>강화학습 기반 알고리즘으로 세그먼트별 최적 광고를 자동 추천함으로써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ko-KR" altLang="en-US" sz="1400" dirty="0"/>
              <a:t>광고 완전 시청률을 높이고 캠페인 효율을 개선하는 것이 본 프로젝트의 목표이다</a:t>
            </a:r>
            <a:r>
              <a:rPr lang="en-US" altLang="ko-KR" sz="1400" dirty="0"/>
              <a:t>.</a:t>
            </a:r>
            <a:endParaRPr sz="1600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85FFD57C-67F0-2D6D-376C-BA3499327E00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EC7512F7-11CE-E234-CAF2-6C8F1FF47ED4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2F689E07-2751-7F6B-0EDE-551523292984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C3BBCE-64EC-B190-0F3E-251BA2AB34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3</a:t>
            </a:fld>
            <a:endParaRPr lang="ko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실행 </a:t>
            </a:r>
            <a:r>
              <a:rPr 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환경</a:t>
            </a:r>
            <a:endParaRPr sz="2500" b="1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altLang="ko-KR" dirty="0"/>
              <a:t>OS/</a:t>
            </a:r>
            <a:r>
              <a:rPr lang="ko-KR" altLang="en-US" dirty="0"/>
              <a:t>경로</a:t>
            </a:r>
            <a:endParaRPr lang="en-US" altLang="ko-KR" dirty="0"/>
          </a:p>
          <a:p>
            <a:pPr lvl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Windows,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 폴더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workspace</a:t>
            </a:r>
          </a:p>
          <a:p>
            <a:pPr lvl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가상환경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workspace\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venv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609600" lvl="1" indent="0"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스크립트에서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venv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dirty="0"/>
              <a:t>주요 라이브러리</a:t>
            </a:r>
            <a:endParaRPr lang="en-US" altLang="ko-KR" dirty="0"/>
          </a:p>
          <a:p>
            <a:pPr lvl="1"/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tensorflow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keras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pandas,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numpy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matplotlib</a:t>
            </a:r>
          </a:p>
          <a:p>
            <a:pPr lvl="1"/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collections.defaultdict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/>
              <a:t>로그</a:t>
            </a:r>
            <a:r>
              <a:rPr lang="en-US" altLang="ko-KR" dirty="0"/>
              <a:t>/</a:t>
            </a:r>
            <a:r>
              <a:rPr lang="ko-KR" altLang="en-US" dirty="0"/>
              <a:t>설정</a:t>
            </a:r>
          </a:p>
          <a:p>
            <a:pPr lvl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TF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정보로그 숨김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os.environ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['TF_CPP_MIN_LOG_LEVEL']='2'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tf.get_logger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().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setLevel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('ERROR')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EECE34-4782-B9E0-2D65-72ABC80652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82240" y="1152475"/>
            <a:ext cx="4250060" cy="3416400"/>
          </a:xfrm>
        </p:spPr>
        <p:txBody>
          <a:bodyPr/>
          <a:lstStyle/>
          <a:p>
            <a:r>
              <a:rPr lang="ko-KR" altLang="en-US" dirty="0"/>
              <a:t>환경</a:t>
            </a:r>
            <a:r>
              <a:rPr lang="en-US" altLang="ko-KR" dirty="0"/>
              <a:t>(</a:t>
            </a:r>
            <a:r>
              <a:rPr lang="ko-KR" altLang="en-US" dirty="0"/>
              <a:t>터미널</a:t>
            </a:r>
            <a:r>
              <a:rPr lang="en-US" altLang="ko-KR" dirty="0"/>
              <a:t>, </a:t>
            </a:r>
            <a:r>
              <a:rPr lang="en-US" altLang="ko-KR" dirty="0" err="1"/>
              <a:t>venv</a:t>
            </a:r>
            <a:r>
              <a:rPr lang="en-US" altLang="ko-KR" dirty="0"/>
              <a:t> </a:t>
            </a:r>
            <a:r>
              <a:rPr lang="ko-KR" altLang="en-US" dirty="0"/>
              <a:t>활성화 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venv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활성화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.\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venv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\Scripts\activate</a:t>
            </a:r>
          </a:p>
          <a:p>
            <a:pPr lvl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Python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Python 3.12.2</a:t>
            </a:r>
          </a:p>
          <a:p>
            <a:pPr lvl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 패키지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66800" lvl="2" indent="0">
              <a:buNone/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keras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==3.12.0</a:t>
            </a:r>
          </a:p>
          <a:p>
            <a:pPr marL="1066800" lvl="2" indent="0"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matplotlib==3.10.7</a:t>
            </a:r>
          </a:p>
          <a:p>
            <a:pPr marL="1066800" lvl="2" indent="0">
              <a:buNone/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numpy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==2.3.5</a:t>
            </a:r>
          </a:p>
          <a:p>
            <a:pPr marL="1066800" lvl="2" indent="0"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pandas==2.3.3</a:t>
            </a:r>
          </a:p>
          <a:p>
            <a:pPr marL="1066800" lvl="2" indent="0">
              <a:buNone/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tensorflow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==2.20.0</a:t>
            </a:r>
          </a:p>
          <a:p>
            <a:pPr lvl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스크립트 실행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python RLProject_A70027.py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7E4849-611A-FDC0-199C-C7F622608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4</a:t>
            </a:fld>
            <a:endParaRPr lang="ko" altLang="en-US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70DF9CF3-3505-68CF-18DD-6C85BC3032AE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BB6570C8-4B8B-DCA5-768C-9D788249BDDD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AC1049C9-0932-AD0D-3215-598F2844FFC9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A9ECA67-A3FB-2BEE-6922-F78B3F0C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EFEF96C3-C886-B4A8-59B1-B778EF7B71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데이터셋</a:t>
            </a:r>
            <a:endParaRPr sz="2500" b="1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9EE2C1B6-58BB-43E0-9D1F-672B6B556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33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ko-KR" altLang="en-US" sz="1400" dirty="0"/>
              <a:t>입력 파일</a:t>
            </a:r>
          </a:p>
          <a:p>
            <a:pPr lvl="1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user_seg.csv 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세그먼트 정보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596900" lvl="1" indent="0">
              <a:buNone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ad_watch_hist.csv 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 시청 로그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vl="1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/>
              <a:t>데이터 </a:t>
            </a:r>
            <a:r>
              <a:rPr lang="ko-KR" altLang="en-US" sz="1400" dirty="0" err="1"/>
              <a:t>전처리</a:t>
            </a:r>
            <a:r>
              <a:rPr lang="ko-KR" altLang="en-US" sz="1400" dirty="0"/>
              <a:t> 및 병합</a:t>
            </a:r>
          </a:p>
          <a:p>
            <a:pPr lvl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ID(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user_id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세그먼트 정보와 광고 시청로그를 병합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결측값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인덱싱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매핑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통해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수행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2ABF53F3-4E92-B55F-56B7-905FE4F1C25E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8267C17F-4F4E-B069-0290-1BD3A51CD470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DCE32CCD-EDFB-ADBA-E8FE-00C7A7D69B21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865702-845E-5A30-5A60-97B2360683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5</a:t>
            </a:fld>
            <a:endParaRPr lang="ko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CCA1B11-1F3B-8940-0D24-BF7EB8DB7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222406"/>
              </p:ext>
            </p:extLst>
          </p:nvPr>
        </p:nvGraphicFramePr>
        <p:xfrm>
          <a:off x="1331059" y="1742935"/>
          <a:ext cx="1871932" cy="10172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5966">
                  <a:extLst>
                    <a:ext uri="{9D8B030D-6E8A-4147-A177-3AD203B41FA5}">
                      <a16:colId xmlns:a16="http://schemas.microsoft.com/office/drawing/2014/main" val="1003791744"/>
                    </a:ext>
                  </a:extLst>
                </a:gridCol>
                <a:gridCol w="935966">
                  <a:extLst>
                    <a:ext uri="{9D8B030D-6E8A-4147-A177-3AD203B41FA5}">
                      <a16:colId xmlns:a16="http://schemas.microsoft.com/office/drawing/2014/main" val="2472493470"/>
                    </a:ext>
                  </a:extLst>
                </a:gridCol>
              </a:tblGrid>
              <a:tr h="917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user_id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seg_id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607482"/>
                  </a:ext>
                </a:extLst>
              </a:tr>
              <a:tr h="917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460934"/>
                  </a:ext>
                </a:extLst>
              </a:tr>
              <a:tr h="917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238031"/>
                  </a:ext>
                </a:extLst>
              </a:tr>
              <a:tr h="917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33386"/>
                  </a:ext>
                </a:extLst>
              </a:tr>
              <a:tr h="917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977276"/>
                  </a:ext>
                </a:extLst>
              </a:tr>
              <a:tr h="917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99091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CF4A10E-D210-9630-AE65-30F7C9260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842478"/>
              </p:ext>
            </p:extLst>
          </p:nvPr>
        </p:nvGraphicFramePr>
        <p:xfrm>
          <a:off x="1331059" y="3119856"/>
          <a:ext cx="3736376" cy="10172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4094">
                  <a:extLst>
                    <a:ext uri="{9D8B030D-6E8A-4147-A177-3AD203B41FA5}">
                      <a16:colId xmlns:a16="http://schemas.microsoft.com/office/drawing/2014/main" val="2751034268"/>
                    </a:ext>
                  </a:extLst>
                </a:gridCol>
                <a:gridCol w="934094">
                  <a:extLst>
                    <a:ext uri="{9D8B030D-6E8A-4147-A177-3AD203B41FA5}">
                      <a16:colId xmlns:a16="http://schemas.microsoft.com/office/drawing/2014/main" val="489644369"/>
                    </a:ext>
                  </a:extLst>
                </a:gridCol>
                <a:gridCol w="934094">
                  <a:extLst>
                    <a:ext uri="{9D8B030D-6E8A-4147-A177-3AD203B41FA5}">
                      <a16:colId xmlns:a16="http://schemas.microsoft.com/office/drawing/2014/main" val="3678985050"/>
                    </a:ext>
                  </a:extLst>
                </a:gridCol>
                <a:gridCol w="934094">
                  <a:extLst>
                    <a:ext uri="{9D8B030D-6E8A-4147-A177-3AD203B41FA5}">
                      <a16:colId xmlns:a16="http://schemas.microsoft.com/office/drawing/2014/main" val="4071713133"/>
                    </a:ext>
                  </a:extLst>
                </a:gridCol>
              </a:tblGrid>
              <a:tr h="96457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user_id</a:t>
                      </a:r>
                      <a:endParaRPr lang="en-US" sz="1050" b="0" i="0" u="none" strike="noStrike" cap="none" dirty="0">
                        <a:solidFill>
                          <a:schemeClr val="dk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ad_id</a:t>
                      </a:r>
                      <a:endParaRPr lang="en-US" sz="1050" b="0" i="0" u="none" strike="noStrike" cap="none" dirty="0">
                        <a:solidFill>
                          <a:schemeClr val="dk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ad_brand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full_watch_cnt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32069"/>
                  </a:ext>
                </a:extLst>
              </a:tr>
              <a:tr h="61331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716919"/>
                  </a:ext>
                </a:extLst>
              </a:tr>
              <a:tr h="61331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740556"/>
                  </a:ext>
                </a:extLst>
              </a:tr>
              <a:tr h="61331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230354"/>
                  </a:ext>
                </a:extLst>
              </a:tr>
              <a:tr h="61331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938084"/>
                  </a:ext>
                </a:extLst>
              </a:tr>
              <a:tr h="61331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996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68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462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State, </a:t>
            </a:r>
            <a:r>
              <a:rPr lang="en-US" alt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A</a:t>
            </a:r>
            <a:r>
              <a:rPr 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ction, </a:t>
            </a:r>
            <a:r>
              <a:rPr lang="en-US" alt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Re</a:t>
            </a:r>
            <a:r>
              <a:rPr 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ward 설계</a:t>
            </a:r>
            <a:endParaRPr sz="2500" b="1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1514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altLang="ko-KR" sz="1400" dirty="0"/>
              <a:t>State</a:t>
            </a:r>
          </a:p>
          <a:p>
            <a:pPr lvl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세그먼트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seg_id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</a:p>
          <a:p>
            <a:r>
              <a:rPr lang="en-US" altLang="ko-KR" sz="1400" dirty="0"/>
              <a:t>Action</a:t>
            </a:r>
          </a:p>
          <a:p>
            <a:pPr lvl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 시청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ID(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ad_id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596900" lvl="1" indent="0">
              <a:buNone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/>
              <a:t>Reward</a:t>
            </a:r>
          </a:p>
          <a:p>
            <a:pPr lvl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100%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완전시청시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불완전시청시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 (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full_watch_cnt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14262099-4A5E-BB43-FDD8-7971BD767FB1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F5AD1001-57BC-D106-6D43-A3BC13D80AFD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58230E4A-8D1C-C081-CA1E-7BB57D60908C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4B9536-A2FB-FBEC-43FE-BE9E90D8ED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6</a:t>
            </a:fld>
            <a:endParaRPr lang="ko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강화학습 알고리즘 및 hyperparamete</a:t>
            </a:r>
            <a:r>
              <a:rPr lang="en-US" altLang="ko" sz="2500" b="1" dirty="0">
                <a:solidFill>
                  <a:srgbClr val="222222"/>
                </a:solidFill>
                <a:highlight>
                  <a:srgbClr val="FFFFFF"/>
                </a:highlight>
              </a:rPr>
              <a:t>r</a:t>
            </a:r>
            <a:endParaRPr sz="2500" b="1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E2A996E-260E-3FBD-F77E-D3DD95E7A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Q-learning</a:t>
            </a:r>
          </a:p>
          <a:p>
            <a:pPr lvl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hyperparameter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r>
              <a:rPr lang="en-US" altLang="ko-KR" dirty="0"/>
              <a:t>DQN</a:t>
            </a:r>
          </a:p>
          <a:p>
            <a:pPr lvl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신경망 구조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F4F3320-B1DF-6D97-D48F-21F6490B822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763078" y="2835949"/>
            <a:ext cx="3999900" cy="1535389"/>
          </a:xfrm>
        </p:spPr>
        <p:txBody>
          <a:bodyPr/>
          <a:lstStyle/>
          <a:p>
            <a:pPr lvl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hyperparameter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15CCA8-1D8E-A605-25FB-FA588ED066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7</a:t>
            </a:fld>
            <a:endParaRPr lang="ko" altLang="en-US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A5CD68D0-B490-6283-B6F8-9E5057E8D02B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41F53E20-9894-A5A7-6D10-F2DDBE2760EC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BC82FA27-CCEF-A93B-DF13-D14F8F8C118B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2BDBD90-44D3-FD0D-1676-0074EDFFE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847478"/>
              </p:ext>
            </p:extLst>
          </p:nvPr>
        </p:nvGraphicFramePr>
        <p:xfrm>
          <a:off x="2640589" y="1567724"/>
          <a:ext cx="3122439" cy="11334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3345">
                  <a:extLst>
                    <a:ext uri="{9D8B030D-6E8A-4147-A177-3AD203B41FA5}">
                      <a16:colId xmlns:a16="http://schemas.microsoft.com/office/drawing/2014/main" val="4068105102"/>
                    </a:ext>
                  </a:extLst>
                </a:gridCol>
                <a:gridCol w="669094">
                  <a:extLst>
                    <a:ext uri="{9D8B030D-6E8A-4147-A177-3AD203B41FA5}">
                      <a16:colId xmlns:a16="http://schemas.microsoft.com/office/drawing/2014/main" val="4022830363"/>
                    </a:ext>
                  </a:extLst>
                </a:gridCol>
              </a:tblGrid>
              <a:tr h="1147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Learning Rate (</a:t>
                      </a:r>
                      <a:r>
                        <a:rPr lang="el-GR" sz="1000" u="none" strike="noStrike" dirty="0">
                          <a:effectLst/>
                          <a:ea typeface="맑은 고딕" panose="020B0503020000020004" pitchFamily="50" charset="-127"/>
                        </a:rPr>
                        <a:t>α)</a:t>
                      </a:r>
                      <a:endParaRPr lang="el-G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840534"/>
                  </a:ext>
                </a:extLst>
              </a:tr>
              <a:tr h="1147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Discount Factor (</a:t>
                      </a:r>
                      <a:r>
                        <a:rPr lang="el-GR" sz="1000" u="none" strike="noStrike">
                          <a:effectLst/>
                          <a:ea typeface="맑은 고딕" panose="020B0503020000020004" pitchFamily="50" charset="-127"/>
                        </a:rPr>
                        <a:t>γ)</a:t>
                      </a:r>
                      <a:endParaRPr lang="el-G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42097"/>
                  </a:ext>
                </a:extLst>
              </a:tr>
              <a:tr h="1147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Episodes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749448"/>
                  </a:ext>
                </a:extLst>
              </a:tr>
              <a:tr h="1147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Epsilon Start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169935"/>
                  </a:ext>
                </a:extLst>
              </a:tr>
              <a:tr h="1147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Epsilon End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358248"/>
                  </a:ext>
                </a:extLst>
              </a:tr>
              <a:tr h="1147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Epsilon Decay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788192"/>
                  </a:ext>
                </a:extLst>
              </a:tr>
              <a:tr h="1147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per Episode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786340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896FFD9-DC2A-E9B3-3DC9-A97231F58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215972"/>
              </p:ext>
            </p:extLst>
          </p:nvPr>
        </p:nvGraphicFramePr>
        <p:xfrm>
          <a:off x="4832400" y="3251198"/>
          <a:ext cx="3122439" cy="1619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3345">
                  <a:extLst>
                    <a:ext uri="{9D8B030D-6E8A-4147-A177-3AD203B41FA5}">
                      <a16:colId xmlns:a16="http://schemas.microsoft.com/office/drawing/2014/main" val="2722911540"/>
                    </a:ext>
                  </a:extLst>
                </a:gridCol>
                <a:gridCol w="669094">
                  <a:extLst>
                    <a:ext uri="{9D8B030D-6E8A-4147-A177-3AD203B41FA5}">
                      <a16:colId xmlns:a16="http://schemas.microsoft.com/office/drawing/2014/main" val="2607619785"/>
                    </a:ext>
                  </a:extLst>
                </a:gridCol>
              </a:tblGrid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Learning Rate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202864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Discount Factor (</a:t>
                      </a:r>
                      <a:r>
                        <a:rPr lang="el-GR" sz="1000" u="none" strike="noStrike" dirty="0">
                          <a:effectLst/>
                          <a:ea typeface="맑은 고딕" panose="020B0503020000020004" pitchFamily="50" charset="-127"/>
                        </a:rPr>
                        <a:t>γ)</a:t>
                      </a:r>
                      <a:endParaRPr lang="el-G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105138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Episodes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607443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Batch Size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642683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 Memory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325287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Target Update Interval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934394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Epsilon Start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779638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Epsilon End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166781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Epsilon Decay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638992"/>
                  </a:ext>
                </a:extLst>
              </a:tr>
              <a:tr h="83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per Episode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5214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ABF07C-9A53-0724-FA0C-125DD1082281}"/>
              </a:ext>
            </a:extLst>
          </p:cNvPr>
          <p:cNvSpPr txBox="1"/>
          <p:nvPr/>
        </p:nvSpPr>
        <p:spPr>
          <a:xfrm>
            <a:off x="1189161" y="3251198"/>
            <a:ext cx="312243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Input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shape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=(1,),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dtype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=int32)</a:t>
            </a:r>
          </a:p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↓</a:t>
            </a:r>
          </a:p>
          <a:p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Embedding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input_dim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num_states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output_dim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=16)</a:t>
            </a:r>
          </a:p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↓</a:t>
            </a:r>
          </a:p>
          <a:p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Flatten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↓</a:t>
            </a:r>
          </a:p>
          <a:p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Dense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(64,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activation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='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relu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')</a:t>
            </a:r>
          </a:p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↓</a:t>
            </a:r>
          </a:p>
          <a:p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Dense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(64,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activation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='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relu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')</a:t>
            </a:r>
          </a:p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↓</a:t>
            </a:r>
          </a:p>
          <a:p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Dense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num_actions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 //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-값 출력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실험 셋업</a:t>
            </a:r>
            <a:endParaRPr sz="2500"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02910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ko-KR" sz="1200" dirty="0"/>
              <a:t>Q-Learning, DQN</a:t>
            </a:r>
            <a:r>
              <a:rPr lang="ko-KR" altLang="en-US" sz="1200" dirty="0"/>
              <a:t>의 성능 비교를 위해 모든 변수와 조건을 통제한 동일한 실험 구조에서 수행되도록 설계</a:t>
            </a:r>
            <a:endParaRPr lang="en-US" altLang="ko-KR" sz="1200" dirty="0"/>
          </a:p>
          <a:p>
            <a:r>
              <a:rPr lang="ko-KR" altLang="en-US" sz="1200" dirty="0"/>
              <a:t>데이터 샘플링 방식</a:t>
            </a:r>
            <a:endParaRPr lang="en-US" altLang="ko-KR" sz="1200" dirty="0"/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 데이터셋에서 매 에피소드마다 최대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300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시청 로그를 무작위 샘플링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96900" lvl="1" indent="0">
              <a:buNone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사용자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광고에 대한 중복 샘플이 존재할 수 있으며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실제 로그 기반 환경에서의 분포를 반영하기 위한 설계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vl="1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Q-Learning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DQN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모두 동일한 샘플링 전략을 사용하여 공정하게 비교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/>
              <a:t>단일 스텝 </a:t>
            </a:r>
            <a:r>
              <a:rPr lang="en-US" altLang="ko-KR" sz="1200" dirty="0"/>
              <a:t>Bandit </a:t>
            </a:r>
            <a:r>
              <a:rPr lang="ko-KR" altLang="en-US" sz="1200" dirty="0"/>
              <a:t>구조</a:t>
            </a:r>
            <a:endParaRPr lang="en-US" altLang="ko-KR" sz="1200" dirty="0"/>
          </a:p>
          <a:p>
            <a:pPr lvl="1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IPTV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로그는 명확한 순차적 상태전이가 제공되지 않으므로 강화학습 환경을 단일 스텝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Contextual Bandit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모델링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next_state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임의로 생성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done=True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설정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샘플은 독립적인 “광고 추천 → 완전 시청 여부” 단일 의사결정으로 처리됨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/>
              <a:t>학습 조건 통일</a:t>
            </a:r>
            <a:endParaRPr lang="en-US" altLang="ko-KR" sz="1200" dirty="0"/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 알고리즘은 동일한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Episode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Episode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당 샘플 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reward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구조를 기반으로 학습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이는 알고리즘 자체의 차이를 정확히 비교하기 위한 실험 통제조건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/>
              <a:t>탐색 전략</a:t>
            </a:r>
            <a:r>
              <a:rPr lang="en-US" altLang="ko-KR" sz="1200" dirty="0"/>
              <a:t>(Epsilon-Greedy) </a:t>
            </a:r>
            <a:r>
              <a:rPr lang="ko-KR" altLang="en-US" sz="1200" dirty="0"/>
              <a:t>통일</a:t>
            </a:r>
            <a:endParaRPr lang="en-US" altLang="ko-KR" sz="1200" dirty="0"/>
          </a:p>
          <a:p>
            <a:pPr lvl="1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Q-Learning, DQN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모두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ε_start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1.0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ε_end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0.05 exponential decay (0.98)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탐색 전략을 적용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통해 알고리즘의 구조적 차이가 아닌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탐색 정책 차이로 인한 편향을 제거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/>
              <a:t>모델 비교 기준의 일관성</a:t>
            </a:r>
            <a:endParaRPr lang="en-US" altLang="ko-KR" sz="1200" dirty="0"/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알고리즘은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Episode Reward, Average Reward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등의 동일한 지표로 평가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평가 함수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evaluate_policy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통해 정책 성능을 비교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데이터셋을 입력으로 정책 검증을 수행하여 공정성 확보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D58B2A8B-1DE8-09E0-66CF-E1031C198678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391BF328-87C5-4ED1-D4AC-7704FF0B9F39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1F5A4899-FD3B-206F-7121-C17AE7C5079E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924270-BE7B-F77C-D8C1-1D990E17D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8</a:t>
            </a:fld>
            <a:endParaRPr lang="ko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8E43D52-4291-1145-6EDA-C231B03A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>
            <a:extLst>
              <a:ext uri="{FF2B5EF4-FFF2-40B4-BE49-F238E27FC236}">
                <a16:creationId xmlns:a16="http://schemas.microsoft.com/office/drawing/2014/main" id="{371EB801-2127-8F39-AA84-E230F1AEF2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dirty="0">
                <a:solidFill>
                  <a:srgbClr val="222222"/>
                </a:solidFill>
                <a:highlight>
                  <a:srgbClr val="FFFFFF"/>
                </a:highlight>
              </a:rPr>
              <a:t>평가 지표</a:t>
            </a:r>
            <a:endParaRPr sz="2500" dirty="0"/>
          </a:p>
        </p:txBody>
      </p:sp>
      <p:sp>
        <p:nvSpPr>
          <p:cNvPr id="85" name="Google Shape;85;p18">
            <a:extLst>
              <a:ext uri="{FF2B5EF4-FFF2-40B4-BE49-F238E27FC236}">
                <a16:creationId xmlns:a16="http://schemas.microsoft.com/office/drawing/2014/main" id="{42FE171C-12A2-013E-3808-9389FD25E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2910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-KR" altLang="en-US" sz="1200" dirty="0"/>
              <a:t>강화학습 모델의 성능은 “정책이 얼마나 효과적으로 완전 시청을 유도할 수 </a:t>
            </a:r>
            <a:r>
              <a:rPr lang="ko-KR" altLang="en-US" sz="1200" dirty="0" err="1"/>
              <a:t>있는가”를</a:t>
            </a:r>
            <a:r>
              <a:rPr lang="ko-KR" altLang="en-US" sz="1200" dirty="0"/>
              <a:t> 중심으로 평가</a:t>
            </a:r>
            <a:endParaRPr lang="en-US" altLang="ko-KR" sz="1200" dirty="0"/>
          </a:p>
          <a:p>
            <a:r>
              <a:rPr lang="ko-KR" altLang="en-US" sz="1200" dirty="0"/>
              <a:t>샘플 처리 수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total_count</a:t>
            </a:r>
            <a:r>
              <a:rPr lang="en-US" altLang="ko-KR" sz="1200" dirty="0"/>
              <a:t>): </a:t>
            </a:r>
            <a:r>
              <a:rPr lang="ko-KR" altLang="en-US" sz="1200" dirty="0"/>
              <a:t>평가 루프에서 정상적으로 처리한 샘플 수</a:t>
            </a:r>
          </a:p>
          <a:p>
            <a:r>
              <a:rPr lang="ko-KR" altLang="en-US" sz="1200" dirty="0"/>
              <a:t>액션 매칭 수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matched_count</a:t>
            </a:r>
            <a:r>
              <a:rPr lang="en-US" altLang="ko-KR" sz="1200" dirty="0"/>
              <a:t>): </a:t>
            </a:r>
            <a:r>
              <a:rPr lang="en-US" altLang="ko-KR" sz="1200" dirty="0" err="1"/>
              <a:t>predicted_action</a:t>
            </a:r>
            <a:r>
              <a:rPr lang="en-US" altLang="ko-KR" sz="1200" dirty="0"/>
              <a:t> == </a:t>
            </a:r>
            <a:r>
              <a:rPr lang="en-US" altLang="ko-KR" sz="1200" dirty="0" err="1"/>
              <a:t>true_action</a:t>
            </a:r>
            <a:r>
              <a:rPr lang="en-US" altLang="ko-KR" sz="1200" dirty="0"/>
              <a:t> </a:t>
            </a:r>
            <a:r>
              <a:rPr lang="ko-KR" altLang="en-US" sz="1200" dirty="0"/>
              <a:t>인 샘플 수</a:t>
            </a:r>
          </a:p>
          <a:p>
            <a:r>
              <a:rPr lang="ko-KR" altLang="en-US" sz="1200" dirty="0"/>
              <a:t>누적 보상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total_reward</a:t>
            </a:r>
            <a:r>
              <a:rPr lang="en-US" altLang="ko-KR" sz="1200" dirty="0"/>
              <a:t>): </a:t>
            </a:r>
            <a:r>
              <a:rPr lang="ko-KR" altLang="en-US" sz="1200" dirty="0"/>
              <a:t>액션 매칭된 샘플에서의 </a:t>
            </a:r>
            <a:r>
              <a:rPr lang="en-US" altLang="ko-KR" sz="1200" dirty="0"/>
              <a:t>reward </a:t>
            </a:r>
            <a:r>
              <a:rPr lang="ko-KR" altLang="en-US" sz="1200" dirty="0"/>
              <a:t>합</a:t>
            </a:r>
          </a:p>
          <a:p>
            <a:r>
              <a:rPr lang="ko-KR" altLang="en-US" sz="1200" dirty="0"/>
              <a:t>완전시청 수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full_watch_count</a:t>
            </a:r>
            <a:r>
              <a:rPr lang="en-US" altLang="ko-KR" sz="1200" dirty="0"/>
              <a:t>): </a:t>
            </a:r>
            <a:r>
              <a:rPr lang="ko-KR" altLang="en-US" sz="1200" dirty="0"/>
              <a:t>액션 매칭된 샘플 중 </a:t>
            </a:r>
            <a:r>
              <a:rPr lang="en-US" altLang="ko-KR" sz="1200" dirty="0"/>
              <a:t>reward==1 </a:t>
            </a:r>
            <a:r>
              <a:rPr lang="ko-KR" altLang="en-US" sz="1200" dirty="0"/>
              <a:t>개수</a:t>
            </a:r>
            <a:endParaRPr lang="en-US" altLang="ko-KR" sz="1200" dirty="0"/>
          </a:p>
          <a:p>
            <a:pPr marL="114300" indent="0">
              <a:buNone/>
            </a:pPr>
            <a:endParaRPr lang="ko-KR" altLang="en-US" sz="1200" dirty="0"/>
          </a:p>
          <a:p>
            <a:r>
              <a:rPr lang="ko-KR" altLang="en-US" sz="1200" dirty="0"/>
              <a:t>액션 </a:t>
            </a:r>
            <a:r>
              <a:rPr lang="ko-KR" altLang="en-US" sz="1200" dirty="0" err="1"/>
              <a:t>매칭률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action_match_rate</a:t>
            </a:r>
            <a:r>
              <a:rPr lang="en-US" altLang="ko-KR" sz="1200" dirty="0"/>
              <a:t>, %) = </a:t>
            </a:r>
            <a:r>
              <a:rPr lang="en-US" altLang="ko-KR" sz="1200" dirty="0" err="1"/>
              <a:t>matched_count</a:t>
            </a:r>
            <a:r>
              <a:rPr lang="en-US" altLang="ko-KR" sz="1200" dirty="0"/>
              <a:t> / </a:t>
            </a:r>
            <a:r>
              <a:rPr lang="en-US" altLang="ko-KR" sz="1200" dirty="0" err="1"/>
              <a:t>total_count</a:t>
            </a:r>
            <a:r>
              <a:rPr lang="en-US" altLang="ko-KR" sz="1200" dirty="0"/>
              <a:t> * 100</a:t>
            </a: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학습이 완료된 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정책이 전체 데이터에서 실제 사용자가 노출된 광고 행동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(action)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얼마나 정확히 재현하는지 측정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/>
              <a:t>평균 </a:t>
            </a:r>
            <a:r>
              <a:rPr lang="en-US" altLang="ko-KR" sz="1200" dirty="0"/>
              <a:t>Reward (</a:t>
            </a:r>
            <a:r>
              <a:rPr lang="en-US" altLang="ko-KR" sz="1200" dirty="0" err="1"/>
              <a:t>avg_reward</a:t>
            </a:r>
            <a:r>
              <a:rPr lang="en-US" altLang="ko-KR" sz="1200" dirty="0"/>
              <a:t>) = </a:t>
            </a:r>
            <a:r>
              <a:rPr lang="en-US" altLang="ko-KR" sz="1200" dirty="0" err="1"/>
              <a:t>total_reward</a:t>
            </a:r>
            <a:r>
              <a:rPr lang="en-US" altLang="ko-KR" sz="1200" dirty="0"/>
              <a:t> / </a:t>
            </a:r>
            <a:r>
              <a:rPr lang="en-US" altLang="ko-KR" sz="1200" dirty="0" err="1"/>
              <a:t>matched_count</a:t>
            </a:r>
            <a:r>
              <a:rPr lang="en-US" altLang="ko-KR" sz="1200" dirty="0"/>
              <a:t> (</a:t>
            </a:r>
            <a:r>
              <a:rPr lang="en-US" altLang="ko-KR" sz="1200" dirty="0" err="1"/>
              <a:t>matched_count</a:t>
            </a:r>
            <a:r>
              <a:rPr lang="en-US" altLang="ko-KR" sz="1200" dirty="0"/>
              <a:t>&gt;0</a:t>
            </a:r>
            <a:r>
              <a:rPr lang="ko-KR" altLang="en-US" sz="1200" dirty="0"/>
              <a:t>일 때</a:t>
            </a:r>
            <a:r>
              <a:rPr lang="en-US" altLang="ko-KR" sz="1200" dirty="0"/>
              <a:t>)</a:t>
            </a: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정책이 예측한 액션이 실제 데이터에서 일치하며 완전 시청으로 이어진 비율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정책의 보상을 얻은 평균 수준을 평가하는 지표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/>
              <a:t>완전시청 </a:t>
            </a:r>
            <a:r>
              <a:rPr lang="ko-KR" altLang="en-US" sz="1200" dirty="0" err="1"/>
              <a:t>달성률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full_watch_rate</a:t>
            </a:r>
            <a:r>
              <a:rPr lang="en-US" altLang="ko-KR" sz="1200" dirty="0"/>
              <a:t>, %) = </a:t>
            </a:r>
            <a:r>
              <a:rPr lang="en-US" altLang="ko-KR" sz="1200" dirty="0" err="1"/>
              <a:t>full_watch_count</a:t>
            </a:r>
            <a:r>
              <a:rPr lang="en-US" altLang="ko-KR" sz="1200" dirty="0"/>
              <a:t> / </a:t>
            </a:r>
            <a:r>
              <a:rPr lang="en-US" altLang="ko-KR" sz="1200" dirty="0" err="1"/>
              <a:t>matched_count</a:t>
            </a:r>
            <a:r>
              <a:rPr lang="en-US" altLang="ko-KR" sz="1200" dirty="0"/>
              <a:t> * 100 (</a:t>
            </a:r>
            <a:r>
              <a:rPr lang="en-US" altLang="ko-KR" sz="1200" dirty="0" err="1"/>
              <a:t>matched_count</a:t>
            </a:r>
            <a:r>
              <a:rPr lang="en-US" altLang="ko-KR" sz="1200" dirty="0"/>
              <a:t>&gt;0</a:t>
            </a:r>
            <a:r>
              <a:rPr lang="ko-KR" altLang="en-US" sz="1200" dirty="0"/>
              <a:t>일 때</a:t>
            </a:r>
            <a:r>
              <a:rPr lang="en-US" altLang="ko-KR" sz="1200" dirty="0"/>
              <a:t>)</a:t>
            </a: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 액션이 실제 데이터에서 완전 시청으로 이어진 비율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정책이 얼마나 완전 시청 가능성이 높은 광고를 잘 선택했는지 측정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/>
          </a:p>
          <a:p>
            <a:r>
              <a:rPr lang="ko-KR" altLang="en-US" sz="1200" dirty="0"/>
              <a:t>훈련지표</a:t>
            </a:r>
            <a:endParaRPr lang="en-US" altLang="ko-KR" sz="1200" dirty="0"/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최종 에피소드 보상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최종 평균 보상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E843F708-D2F2-6424-4BD0-3069F67DFD43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1AA5A984-FB42-85AE-A008-961A46AA38E7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254BDBF9-E990-0AEA-DBE1-C0D5AE85BF8C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C92D8D-8CE9-9819-8706-54EAD07DAD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9</a:t>
            </a:fld>
            <a:endParaRPr lang="ko" altLang="en-US" dirty="0"/>
          </a:p>
        </p:txBody>
      </p:sp>
    </p:spTree>
    <p:extLst>
      <p:ext uri="{BB962C8B-B14F-4D97-AF65-F5344CB8AC3E}">
        <p14:creationId xmlns:p14="http://schemas.microsoft.com/office/powerpoint/2010/main" val="808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실험 결과</a:t>
            </a:r>
            <a:r>
              <a:rPr lang="en-US" alt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(Q-learning)</a:t>
            </a:r>
            <a:endParaRPr sz="25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7603C98-3C30-2C7D-C2C5-628A15321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904342"/>
          </a:xfrm>
        </p:spPr>
        <p:txBody>
          <a:bodyPr>
            <a:normAutofit fontScale="25000" lnSpcReduction="20000"/>
          </a:bodyPr>
          <a:lstStyle/>
          <a:p>
            <a:r>
              <a:rPr lang="en-US" altLang="ko-KR" sz="5600" dirty="0"/>
              <a:t>Train</a:t>
            </a:r>
          </a:p>
          <a:p>
            <a:pPr marL="139700" indent="0">
              <a:buNone/>
            </a:pPr>
            <a:r>
              <a:rPr lang="en-US" altLang="ko-KR" sz="3700" dirty="0"/>
              <a:t>Q-Learning Episode 10/400, Reward: 151, Avg: 0.7550, Epsilon: 0.8171</a:t>
            </a:r>
          </a:p>
          <a:p>
            <a:pPr marL="139700" indent="0">
              <a:buNone/>
            </a:pPr>
            <a:r>
              <a:rPr lang="en-US" altLang="ko-KR" sz="3700" dirty="0"/>
              <a:t>Q-Learning Episode 20/400, Reward: 152, Avg: 0.7600, Epsilon: 0.6676</a:t>
            </a:r>
          </a:p>
          <a:p>
            <a:pPr marL="139700" indent="0">
              <a:buNone/>
            </a:pPr>
            <a:r>
              <a:rPr lang="en-US" altLang="ko-KR" sz="3700" dirty="0"/>
              <a:t>Q-Learning Episode 30/400, Reward: 152, Avg: 0.7600, Epsilon: 0.5455</a:t>
            </a:r>
          </a:p>
          <a:p>
            <a:pPr marL="139700" indent="0">
              <a:buNone/>
            </a:pPr>
            <a:r>
              <a:rPr lang="en-US" altLang="ko-KR" sz="3700" dirty="0"/>
              <a:t>Q-Learning Episode 40/400, Reward: 137, Avg: 0.6850, Epsilon: 0.4457</a:t>
            </a:r>
          </a:p>
          <a:p>
            <a:pPr marL="139700" indent="0">
              <a:buNone/>
            </a:pPr>
            <a:r>
              <a:rPr lang="en-US" altLang="ko-KR" sz="3700" dirty="0"/>
              <a:t>Q-Learning Episode 50/400, Reward: 143, Avg: 0.7150, Epsilon: 0.3642</a:t>
            </a:r>
          </a:p>
          <a:p>
            <a:pPr marL="139700" indent="0">
              <a:buNone/>
            </a:pPr>
            <a:r>
              <a:rPr lang="en-US" altLang="ko-KR" sz="3700" dirty="0"/>
              <a:t>Q-Learning Episode 60/400, Reward: 144, Avg: 0.7200, Epsilon: 0.2976</a:t>
            </a:r>
          </a:p>
          <a:p>
            <a:pPr marL="139700" indent="0">
              <a:buNone/>
            </a:pPr>
            <a:r>
              <a:rPr lang="en-US" altLang="ko-KR" sz="3700" dirty="0"/>
              <a:t>Q-Learning Episode 70/400, Reward: 143, Avg: 0.7150, Epsilon: 0.2431</a:t>
            </a:r>
          </a:p>
          <a:p>
            <a:pPr marL="139700" indent="0">
              <a:buNone/>
            </a:pPr>
            <a:r>
              <a:rPr lang="en-US" altLang="ko-KR" sz="3700" dirty="0"/>
              <a:t>Q-Learning Episode 80/400, Reward: 154, Avg: 0.7700, Epsilon: 0.1986</a:t>
            </a:r>
          </a:p>
          <a:p>
            <a:pPr marL="139700" indent="0">
              <a:buNone/>
            </a:pPr>
            <a:r>
              <a:rPr lang="en-US" altLang="ko-KR" sz="3700" dirty="0"/>
              <a:t>Q-Learning Episode 90/400, Reward: 155, Avg: 0.7750, Epsilon: 0.1623</a:t>
            </a:r>
          </a:p>
          <a:p>
            <a:pPr marL="139700" indent="0">
              <a:buNone/>
            </a:pPr>
            <a:r>
              <a:rPr lang="en-US" altLang="ko-KR" sz="3700" dirty="0"/>
              <a:t>… (</a:t>
            </a:r>
            <a:r>
              <a:rPr lang="ko-KR" altLang="en-US" sz="3700" dirty="0" err="1"/>
              <a:t>중간생략</a:t>
            </a:r>
            <a:r>
              <a:rPr lang="en-US" altLang="ko-KR" sz="3700" dirty="0"/>
              <a:t>)</a:t>
            </a:r>
          </a:p>
          <a:p>
            <a:pPr marL="139700" indent="0">
              <a:buNone/>
            </a:pPr>
            <a:r>
              <a:rPr lang="en-US" altLang="ko-KR" sz="3700" dirty="0"/>
              <a:t>Q-Learning Episode 330/400, Reward: 147, Avg: 0.7350, Epsilon: 0.0500</a:t>
            </a:r>
          </a:p>
          <a:p>
            <a:pPr marL="139700" indent="0">
              <a:buNone/>
            </a:pPr>
            <a:r>
              <a:rPr lang="en-US" altLang="ko-KR" sz="3700" dirty="0"/>
              <a:t>Q-Learning Episode 340/400, Reward: 153, Avg: 0.7650, Epsilon: 0.0500</a:t>
            </a:r>
          </a:p>
          <a:p>
            <a:pPr marL="139700" indent="0">
              <a:buNone/>
            </a:pPr>
            <a:r>
              <a:rPr lang="en-US" altLang="ko-KR" sz="3700" dirty="0"/>
              <a:t>Q-Learning Episode 350/400, Reward: 159, Avg: 0.7950, Epsilon: 0.0500</a:t>
            </a:r>
          </a:p>
          <a:p>
            <a:pPr marL="139700" indent="0">
              <a:buNone/>
            </a:pPr>
            <a:r>
              <a:rPr lang="en-US" altLang="ko-KR" sz="3700" dirty="0"/>
              <a:t>Q-Learning Episode 360/400, Reward: 153, Avg: 0.7650, Epsilon: 0.0500</a:t>
            </a:r>
          </a:p>
          <a:p>
            <a:pPr marL="139700" indent="0">
              <a:buNone/>
            </a:pPr>
            <a:r>
              <a:rPr lang="en-US" altLang="ko-KR" sz="3700" dirty="0"/>
              <a:t>Q-Learning Episode 370/400, Reward: 148, Avg: 0.7400, Epsilon: 0.0500</a:t>
            </a:r>
          </a:p>
          <a:p>
            <a:pPr marL="139700" indent="0">
              <a:buNone/>
            </a:pPr>
            <a:r>
              <a:rPr lang="en-US" altLang="ko-KR" sz="3700" dirty="0"/>
              <a:t>Q-Learning Episode 380/400, Reward: 150, Avg: 0.7500, Epsilon: 0.0500</a:t>
            </a:r>
          </a:p>
          <a:p>
            <a:pPr marL="139700" indent="0">
              <a:buNone/>
            </a:pPr>
            <a:r>
              <a:rPr lang="en-US" altLang="ko-KR" sz="3700" dirty="0"/>
              <a:t>Q-Learning Episode 390/400, Reward: 145, Avg: 0.7250, Epsilon: 0.0500</a:t>
            </a:r>
          </a:p>
          <a:p>
            <a:pPr marL="139700" indent="0">
              <a:buNone/>
            </a:pPr>
            <a:r>
              <a:rPr lang="en-US" altLang="ko-KR" sz="3700" dirty="0"/>
              <a:t>Q-Learning Episode 400/400, Reward: 151, Avg: 0.7550, Epsilon: 0.0500</a:t>
            </a:r>
          </a:p>
          <a:p>
            <a:pPr marL="139700" indent="0">
              <a:buNone/>
            </a:pPr>
            <a:endParaRPr lang="en-US" altLang="ko-KR" sz="3700" dirty="0"/>
          </a:p>
          <a:p>
            <a:pPr marL="139700" indent="0">
              <a:buNone/>
            </a:pPr>
            <a:r>
              <a:rPr lang="en-US" altLang="ko-KR" sz="4800" dirty="0"/>
              <a:t>Q-Learning </a:t>
            </a:r>
            <a:r>
              <a:rPr lang="ko-KR" altLang="en-US" sz="4800" dirty="0"/>
              <a:t>훈련 완료</a:t>
            </a:r>
          </a:p>
          <a:p>
            <a:pPr marL="139700" indent="0">
              <a:buNone/>
            </a:pPr>
            <a:r>
              <a:rPr lang="ko-KR" altLang="en-US" sz="4800" dirty="0"/>
              <a:t>최종 에피소드 보상</a:t>
            </a:r>
            <a:r>
              <a:rPr lang="en-US" altLang="ko-KR" sz="4800" dirty="0"/>
              <a:t>: 151</a:t>
            </a:r>
          </a:p>
          <a:p>
            <a:pPr marL="139700" indent="0">
              <a:buNone/>
            </a:pPr>
            <a:r>
              <a:rPr lang="ko-KR" altLang="en-US" sz="4800" dirty="0"/>
              <a:t>최종 평균 보상</a:t>
            </a:r>
            <a:r>
              <a:rPr lang="en-US" altLang="ko-KR" sz="4800" dirty="0"/>
              <a:t>: 0.7550</a:t>
            </a:r>
            <a:endParaRPr lang="ko-KR" altLang="en-US" sz="48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EB857A9-4676-596D-EEAE-F0E5605C1F2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 dirty="0"/>
              <a:t>평가</a:t>
            </a:r>
            <a:endParaRPr lang="en-US" altLang="ko-KR" dirty="0"/>
          </a:p>
          <a:p>
            <a:pPr marL="139700" indent="0">
              <a:buNone/>
            </a:pPr>
            <a:r>
              <a:rPr lang="ko-KR" altLang="en-US" sz="1200" dirty="0"/>
              <a:t>평가 내역</a:t>
            </a:r>
            <a:endParaRPr lang="en-US" altLang="ko-KR" sz="1200" dirty="0"/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샘플 처리</a:t>
            </a:r>
            <a:r>
              <a:rPr lang="en-US" altLang="ko-KR" sz="1200" dirty="0"/>
              <a:t>: 11582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액션 매칭</a:t>
            </a:r>
            <a:r>
              <a:rPr lang="en-US" altLang="ko-KR" sz="1200" dirty="0"/>
              <a:t>: 1150 / 11582 (9.93%)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누적 보상</a:t>
            </a:r>
            <a:r>
              <a:rPr lang="en-US" altLang="ko-KR" sz="1200" dirty="0"/>
              <a:t>: 1150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완전시청 수</a:t>
            </a:r>
            <a:r>
              <a:rPr lang="en-US" altLang="ko-KR" sz="1200" dirty="0"/>
              <a:t>: 1150</a:t>
            </a:r>
          </a:p>
          <a:p>
            <a:pPr marL="139700" indent="0">
              <a:buNone/>
            </a:pPr>
            <a:endParaRPr lang="en-US" altLang="ko-KR" sz="1200" dirty="0"/>
          </a:p>
          <a:p>
            <a:pPr marL="139700" indent="0">
              <a:buNone/>
            </a:pPr>
            <a:r>
              <a:rPr lang="en-US" altLang="ko-KR" sz="1200" dirty="0"/>
              <a:t>Q-Learning </a:t>
            </a:r>
            <a:r>
              <a:rPr lang="ko-KR" altLang="en-US" sz="1200" dirty="0"/>
              <a:t>평가 결과</a:t>
            </a:r>
            <a:r>
              <a:rPr lang="en-US" altLang="ko-KR" sz="1200" dirty="0"/>
              <a:t>: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평균 </a:t>
            </a:r>
            <a:r>
              <a:rPr lang="en-US" altLang="ko-KR" sz="1200" dirty="0"/>
              <a:t>Reward: 1.0000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완전시청 </a:t>
            </a:r>
            <a:r>
              <a:rPr lang="ko-KR" altLang="en-US" sz="1200" dirty="0" err="1"/>
              <a:t>달성률</a:t>
            </a:r>
            <a:r>
              <a:rPr lang="en-US" altLang="ko-KR" sz="1200" dirty="0"/>
              <a:t>: 100.00%</a:t>
            </a:r>
            <a:endParaRPr lang="ko-KR" altLang="en-US" sz="12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5C4E97-8BD9-D1B8-8B74-CD2DCBD6ED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10</a:t>
            </a:fld>
            <a:endParaRPr lang="ko" altLang="en-US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CD7EB84B-5CCF-0DD8-7BCA-0286D83384A8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6C42DEDE-8C93-33BF-BC05-7A3E491154E6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DD77F3A2-0D3B-B298-1D7A-1E290C68A73F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D5E942E-7277-1643-1264-8C36F01A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375155C4-45C7-9095-55D2-B429DB56D0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실험 결과</a:t>
            </a:r>
            <a:r>
              <a:rPr lang="en-US" alt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(DQN)</a:t>
            </a:r>
            <a:endParaRPr sz="25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32C21F5-1C1B-7932-F546-661D2C677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426555" cy="3416400"/>
          </a:xfrm>
        </p:spPr>
        <p:txBody>
          <a:bodyPr>
            <a:normAutofit fontScale="47500" lnSpcReduction="20000"/>
          </a:bodyPr>
          <a:lstStyle/>
          <a:p>
            <a:r>
              <a:rPr lang="en-US" altLang="ko-KR" sz="2900" dirty="0"/>
              <a:t>Train</a:t>
            </a:r>
          </a:p>
          <a:p>
            <a:pPr marL="139700" indent="0">
              <a:buNone/>
            </a:pPr>
            <a:r>
              <a:rPr lang="en-US" altLang="ko-KR" sz="1900" dirty="0"/>
              <a:t>DQN Episode 10/100, Reward: 72, Avg: 0.7200, Epsilon: 0.8171, Memory: 1000</a:t>
            </a:r>
          </a:p>
          <a:p>
            <a:pPr marL="139700" indent="0">
              <a:buNone/>
            </a:pPr>
            <a:r>
              <a:rPr lang="en-US" altLang="ko-KR" sz="1900" dirty="0"/>
              <a:t>DQN Episode 20/100, Reward: 69, Avg: 0.6900, Epsilon: 0.6676, Memory: 2000</a:t>
            </a:r>
          </a:p>
          <a:p>
            <a:pPr marL="139700" indent="0">
              <a:buNone/>
            </a:pPr>
            <a:r>
              <a:rPr lang="en-US" altLang="ko-KR" sz="1900" dirty="0"/>
              <a:t>DQN Episode 30/100, Reward: 70, Avg: 0.7000, Epsilon: 0.5455, Memory: 3000</a:t>
            </a:r>
          </a:p>
          <a:p>
            <a:pPr marL="139700" indent="0">
              <a:buNone/>
            </a:pPr>
            <a:r>
              <a:rPr lang="en-US" altLang="ko-KR" sz="1900" dirty="0"/>
              <a:t>DQN Episode 40/100, Reward: 76, Avg: 0.7600, Epsilon: 0.4457, Memory: 4000</a:t>
            </a:r>
          </a:p>
          <a:p>
            <a:pPr marL="139700" indent="0">
              <a:buNone/>
            </a:pPr>
            <a:r>
              <a:rPr lang="en-US" altLang="ko-KR" sz="1900" dirty="0"/>
              <a:t>DQN Episode 50/100, Reward: 74, Avg: 0.7400, Epsilon: 0.3642, Memory: 5000</a:t>
            </a:r>
          </a:p>
          <a:p>
            <a:pPr marL="139700" indent="0">
              <a:buNone/>
            </a:pPr>
            <a:r>
              <a:rPr lang="en-US" altLang="ko-KR" sz="1900" dirty="0"/>
              <a:t>DQN Episode 60/100, Reward: 66, Avg: 0.6600, Epsilon: 0.2976, Memory: 5000</a:t>
            </a:r>
          </a:p>
          <a:p>
            <a:pPr marL="139700" indent="0">
              <a:buNone/>
            </a:pPr>
            <a:r>
              <a:rPr lang="en-US" altLang="ko-KR" sz="1900" dirty="0"/>
              <a:t>DQN Episode 70/100, Reward: 78, Avg: 0.7800, Epsilon: 0.2431, Memory: 5000</a:t>
            </a:r>
          </a:p>
          <a:p>
            <a:pPr marL="139700" indent="0">
              <a:buNone/>
            </a:pPr>
            <a:r>
              <a:rPr lang="en-US" altLang="ko-KR" sz="1900" dirty="0"/>
              <a:t>DQN Episode 80/100, Reward: 62, Avg: 0.6200, Epsilon: 0.1986, Memory: 5000</a:t>
            </a:r>
          </a:p>
          <a:p>
            <a:pPr marL="139700" indent="0">
              <a:buNone/>
            </a:pPr>
            <a:r>
              <a:rPr lang="en-US" altLang="ko-KR" sz="1900" dirty="0"/>
              <a:t>DQN Episode 90/100, Reward: 75, Avg: 0.7500, Epsilon: 0.1623, Memory: 5000</a:t>
            </a:r>
          </a:p>
          <a:p>
            <a:pPr marL="139700" indent="0">
              <a:buNone/>
            </a:pPr>
            <a:r>
              <a:rPr lang="en-US" altLang="ko-KR" sz="1900" dirty="0"/>
              <a:t>DQN Episode 100/100, Reward: 63, Avg: 0.6300, Epsilon: 0.1326, Memory: 5000</a:t>
            </a:r>
          </a:p>
          <a:p>
            <a:pPr marL="139700" indent="0">
              <a:buNone/>
            </a:pPr>
            <a:endParaRPr lang="en-US" altLang="ko-KR" dirty="0"/>
          </a:p>
          <a:p>
            <a:pPr marL="139700" indent="0">
              <a:buNone/>
            </a:pPr>
            <a:r>
              <a:rPr lang="en-US" altLang="ko-KR" sz="2500" dirty="0"/>
              <a:t>DQN </a:t>
            </a:r>
            <a:r>
              <a:rPr lang="ko-KR" altLang="en-US" sz="2500" dirty="0"/>
              <a:t>훈련 완료</a:t>
            </a:r>
          </a:p>
          <a:p>
            <a:pPr marL="139700" indent="0">
              <a:buNone/>
            </a:pPr>
            <a:r>
              <a:rPr lang="ko-KR" altLang="en-US" sz="2500" dirty="0"/>
              <a:t>최종 에피소드 보상</a:t>
            </a:r>
            <a:r>
              <a:rPr lang="en-US" altLang="ko-KR" sz="2500" dirty="0"/>
              <a:t>: 63</a:t>
            </a:r>
          </a:p>
          <a:p>
            <a:pPr marL="139700" indent="0">
              <a:buNone/>
            </a:pPr>
            <a:r>
              <a:rPr lang="ko-KR" altLang="en-US" sz="2500" dirty="0"/>
              <a:t>최종 평균 보상</a:t>
            </a:r>
            <a:r>
              <a:rPr lang="en-US" altLang="ko-KR" sz="2500" dirty="0"/>
              <a:t>: 0.6300</a:t>
            </a:r>
            <a:endParaRPr lang="ko-KR" altLang="en-US" sz="25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36B8111-6F91-9282-3ECA-E7FAC28C09A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ko-KR" altLang="en-US" dirty="0"/>
              <a:t>평가</a:t>
            </a:r>
            <a:endParaRPr lang="en-US" altLang="ko-KR" dirty="0"/>
          </a:p>
          <a:p>
            <a:pPr marL="139700" indent="0">
              <a:buNone/>
            </a:pPr>
            <a:r>
              <a:rPr lang="ko-KR" altLang="en-US" sz="1200" dirty="0"/>
              <a:t>평가 내역</a:t>
            </a:r>
            <a:endParaRPr lang="en-US" altLang="ko-KR" sz="1200" dirty="0"/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샘플 처리</a:t>
            </a:r>
            <a:r>
              <a:rPr lang="en-US" altLang="ko-KR" sz="1200" dirty="0"/>
              <a:t>: 11582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액션 매칭</a:t>
            </a:r>
            <a:r>
              <a:rPr lang="en-US" altLang="ko-KR" sz="1200" dirty="0"/>
              <a:t>: 216 / 11582 (1.86%)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누적 보상</a:t>
            </a:r>
            <a:r>
              <a:rPr lang="en-US" altLang="ko-KR" sz="1200" dirty="0"/>
              <a:t>: 216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완전시청 수</a:t>
            </a:r>
            <a:r>
              <a:rPr lang="en-US" altLang="ko-KR" sz="1200" dirty="0"/>
              <a:t>: 216</a:t>
            </a:r>
          </a:p>
          <a:p>
            <a:pPr marL="139700" indent="0">
              <a:buNone/>
            </a:pPr>
            <a:endParaRPr lang="en-US" altLang="ko-KR" sz="1200" dirty="0"/>
          </a:p>
          <a:p>
            <a:pPr marL="139700" indent="0">
              <a:buNone/>
            </a:pPr>
            <a:r>
              <a:rPr lang="en-US" altLang="ko-KR" sz="1200" dirty="0"/>
              <a:t>DQN (Optimized) </a:t>
            </a:r>
            <a:r>
              <a:rPr lang="ko-KR" altLang="en-US" sz="1200" dirty="0"/>
              <a:t>평가 결과</a:t>
            </a:r>
            <a:r>
              <a:rPr lang="en-US" altLang="ko-KR" sz="1200" dirty="0"/>
              <a:t>: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평균 </a:t>
            </a:r>
            <a:r>
              <a:rPr lang="en-US" altLang="ko-KR" sz="1200" dirty="0"/>
              <a:t>Reward: 1.0000</a:t>
            </a:r>
          </a:p>
          <a:p>
            <a:pPr marL="139700" indent="0">
              <a:buNone/>
            </a:pPr>
            <a:r>
              <a:rPr lang="en-US" altLang="ko-KR" sz="1200" dirty="0"/>
              <a:t>  </a:t>
            </a:r>
            <a:r>
              <a:rPr lang="ko-KR" altLang="en-US" sz="1200" dirty="0"/>
              <a:t>완전시청 </a:t>
            </a:r>
            <a:r>
              <a:rPr lang="ko-KR" altLang="en-US" sz="1200" dirty="0" err="1"/>
              <a:t>달성률</a:t>
            </a:r>
            <a:r>
              <a:rPr lang="en-US" altLang="ko-KR" sz="1200" dirty="0"/>
              <a:t>: 100.00%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B67A50-ACCD-1FCD-9A96-A535349456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11</a:t>
            </a:fld>
            <a:endParaRPr lang="ko" altLang="en-US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C6A50EAD-0949-09BF-44D6-C68E3DFF80CA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625FE0B4-110F-A36D-ACA2-CED82567DD50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D6D9C83E-D969-7E3F-8D4F-BECF89FCA5CD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091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72F4D28-FEE7-3B14-638A-624C704E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D14475B4-11A3-F8A1-5A28-4FA1081A23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실험 결과</a:t>
            </a:r>
            <a:endParaRPr sz="25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17142C4-5DC7-43C8-2692-0E6369C7C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8" y="1152475"/>
            <a:ext cx="4520701" cy="3416400"/>
          </a:xfrm>
        </p:spPr>
        <p:txBody>
          <a:bodyPr>
            <a:normAutofit/>
          </a:bodyPr>
          <a:lstStyle/>
          <a:p>
            <a:r>
              <a:rPr lang="ko-KR" altLang="en-US" dirty="0"/>
              <a:t>각 고객 세그먼트별 최적 광고 추천 </a:t>
            </a:r>
            <a:r>
              <a:rPr lang="en-US" altLang="ko-KR" dirty="0"/>
              <a:t>(Q-Learning)</a:t>
            </a:r>
          </a:p>
          <a:p>
            <a:pPr marL="139700" indent="0">
              <a:buNone/>
            </a:pPr>
            <a:endParaRPr lang="en-US" altLang="ko-KR" sz="1200" dirty="0"/>
          </a:p>
          <a:p>
            <a:pPr marL="139700" indent="0">
              <a:buNone/>
            </a:pPr>
            <a:r>
              <a:rPr lang="en-US" altLang="ko-KR" sz="1200" dirty="0"/>
              <a:t>Segment 'A0':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2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'B0':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4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'C0':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1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'D0':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2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'E0':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58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'F0':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4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'G0':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4 (Q-value: 0.9993)</a:t>
            </a:r>
          </a:p>
          <a:p>
            <a:pPr marL="139700" indent="0">
              <a:buNone/>
            </a:pPr>
            <a:r>
              <a:rPr lang="en-US" altLang="ko-KR" sz="1200" dirty="0"/>
              <a:t>Segment 'H0':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1 (Q-value: 0.9927)</a:t>
            </a:r>
          </a:p>
          <a:p>
            <a:pPr marL="139700" indent="0">
              <a:buNone/>
            </a:pPr>
            <a:r>
              <a:rPr lang="en-US" altLang="ko-KR" sz="1200" dirty="0"/>
              <a:t>Segment 'I0':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3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'J0':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4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'K0':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4 (Q-value: 1.0000)</a:t>
            </a:r>
          </a:p>
          <a:p>
            <a:pPr marL="139700" indent="0">
              <a:buNone/>
            </a:pPr>
            <a:r>
              <a:rPr lang="en-US" altLang="ko-KR" sz="1200" dirty="0"/>
              <a:t>Segment '_':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1 (Q-value: 0.9997)</a:t>
            </a:r>
            <a:endParaRPr lang="ko-KR" altLang="en-US" sz="12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7E7A516-61A3-22F2-922D-5CAE54E563D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각 고객 세그먼트별 최적 광고 추천 </a:t>
            </a:r>
            <a:r>
              <a:rPr lang="en-US" altLang="ko-KR" dirty="0"/>
              <a:t>(DQN)</a:t>
            </a:r>
          </a:p>
          <a:p>
            <a:pPr marL="139700" indent="0">
              <a:buNone/>
            </a:pPr>
            <a:endParaRPr lang="en-US" altLang="ko-KR" sz="1200" dirty="0"/>
          </a:p>
          <a:p>
            <a:pPr marL="139700" indent="0">
              <a:buNone/>
            </a:pPr>
            <a:r>
              <a:rPr lang="en-US" altLang="ko-KR" sz="1200" dirty="0"/>
              <a:t>Segment 'A0':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56 (Q-value: 2.3082)</a:t>
            </a:r>
          </a:p>
          <a:p>
            <a:pPr marL="139700" indent="0">
              <a:buNone/>
            </a:pPr>
            <a:r>
              <a:rPr lang="en-US" altLang="ko-KR" sz="1200" dirty="0"/>
              <a:t>Segment 'B0':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56 (Q-value: 2.3431)</a:t>
            </a:r>
          </a:p>
          <a:p>
            <a:pPr marL="139700" indent="0">
              <a:buNone/>
            </a:pPr>
            <a:r>
              <a:rPr lang="en-US" altLang="ko-KR" sz="1200" dirty="0"/>
              <a:t>Segment 'C0':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1 (Q-value: 2.0403)</a:t>
            </a:r>
          </a:p>
          <a:p>
            <a:pPr marL="139700" indent="0">
              <a:buNone/>
            </a:pPr>
            <a:r>
              <a:rPr lang="en-US" altLang="ko-KR" sz="1200" dirty="0"/>
              <a:t>Segment 'D0':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129 (Q-value: 2.2901)</a:t>
            </a:r>
          </a:p>
          <a:p>
            <a:pPr marL="139700" indent="0">
              <a:buNone/>
            </a:pPr>
            <a:r>
              <a:rPr lang="en-US" altLang="ko-KR" sz="1200" dirty="0"/>
              <a:t>Segment 'E0':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39 (Q-value: 2.4187)</a:t>
            </a:r>
          </a:p>
          <a:p>
            <a:pPr marL="139700" indent="0">
              <a:buNone/>
            </a:pPr>
            <a:r>
              <a:rPr lang="en-US" altLang="ko-KR" sz="1200" dirty="0"/>
              <a:t>Segment 'F0':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97 (Q-value: 2.3492)</a:t>
            </a:r>
          </a:p>
          <a:p>
            <a:pPr marL="139700" indent="0">
              <a:buNone/>
            </a:pPr>
            <a:r>
              <a:rPr lang="en-US" altLang="ko-KR" sz="1200" dirty="0"/>
              <a:t>Segment 'G0':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56 (Q-value: 2.2871)</a:t>
            </a:r>
          </a:p>
          <a:p>
            <a:pPr marL="139700" indent="0">
              <a:buNone/>
            </a:pPr>
            <a:r>
              <a:rPr lang="en-US" altLang="ko-KR" sz="1200" dirty="0"/>
              <a:t>Segment 'H0':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1 (Q-value: 2.0919)</a:t>
            </a:r>
          </a:p>
          <a:p>
            <a:pPr marL="139700" indent="0">
              <a:buNone/>
            </a:pPr>
            <a:r>
              <a:rPr lang="en-US" altLang="ko-KR" sz="1200" dirty="0"/>
              <a:t>Segment 'I0':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1 (Q-value: 2.4762)</a:t>
            </a:r>
          </a:p>
          <a:p>
            <a:pPr marL="139700" indent="0">
              <a:buNone/>
            </a:pPr>
            <a:r>
              <a:rPr lang="en-US" altLang="ko-KR" sz="1200" dirty="0"/>
              <a:t>Segment 'J0':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125 (Q-value: 2.3948)</a:t>
            </a:r>
          </a:p>
          <a:p>
            <a:pPr marL="139700" indent="0">
              <a:buNone/>
            </a:pPr>
            <a:r>
              <a:rPr lang="en-US" altLang="ko-KR" sz="1200" dirty="0"/>
              <a:t>Segment 'K0':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56 (Q-value: 2.2614)</a:t>
            </a:r>
          </a:p>
          <a:p>
            <a:pPr marL="139700" indent="0">
              <a:buNone/>
            </a:pPr>
            <a:r>
              <a:rPr lang="en-US" altLang="ko-KR" sz="1200" dirty="0"/>
              <a:t>Segment '_': </a:t>
            </a:r>
            <a:r>
              <a:rPr lang="ko-KR" altLang="en-US" sz="1200" dirty="0"/>
              <a:t>추천 광고 </a:t>
            </a:r>
            <a:r>
              <a:rPr lang="en-US" altLang="ko-KR" sz="1200" dirty="0"/>
              <a:t>ID 56 (Q-value: 2.0794)</a:t>
            </a:r>
            <a:endParaRPr lang="ko-KR" altLang="en-US" sz="12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4B163E-53BB-FCEA-4F03-9996BF8297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12</a:t>
            </a:fld>
            <a:endParaRPr lang="ko" altLang="en-US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EB4AC0B4-DAC4-0380-F0A6-C16B58D54687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D37A6058-BA81-5BB0-C892-A181E4BA87C2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E978DB60-0A21-9BE5-4A64-54BC946121E1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76974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7E6841A-0857-EE4F-DCBD-18AEC18DD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A5FD15C5-0E3A-8EB0-BB5E-EC70CA0F36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실험 결과</a:t>
            </a:r>
            <a:endParaRPr sz="25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2EC5B6-301F-2759-91DE-0D20B8AE5D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13</a:t>
            </a:fld>
            <a:endParaRPr lang="ko" altLang="en-US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7A9E4E1F-87E7-F52B-EB7C-47BF6CB643EE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683CE0E7-DCEE-E2D4-559C-BE9B6F6C9187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517484F5-7867-B3DC-D2D9-7B5063DA8783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pic>
        <p:nvPicPr>
          <p:cNvPr id="13" name="그림 12" descr="텍스트, 친필, 폰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96DDF8-2BC3-D906-8BA9-61852F34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06"/>
          <a:stretch>
            <a:fillRect/>
          </a:stretch>
        </p:blipFill>
        <p:spPr>
          <a:xfrm>
            <a:off x="86934" y="1175754"/>
            <a:ext cx="8934224" cy="2295845"/>
          </a:xfrm>
          <a:prstGeom prst="rect">
            <a:avLst/>
          </a:prstGeom>
        </p:spPr>
      </p:pic>
      <p:sp>
        <p:nvSpPr>
          <p:cNvPr id="14" name="텍스트 개체 틀 5">
            <a:extLst>
              <a:ext uri="{FF2B5EF4-FFF2-40B4-BE49-F238E27FC236}">
                <a16:creationId xmlns:a16="http://schemas.microsoft.com/office/drawing/2014/main" id="{30FEDEFB-F220-EE83-6D1C-B47062E4E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244" y="3639298"/>
            <a:ext cx="8379715" cy="1278980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r>
              <a:rPr lang="en-US" altLang="ko-KR" sz="1000" dirty="0"/>
              <a:t>1) Q-Learning Training Progress (Total Reward)</a:t>
            </a:r>
          </a:p>
          <a:p>
            <a:pPr marL="139700" indent="0">
              <a:buNone/>
            </a:pPr>
            <a:r>
              <a:rPr lang="ko-KR" altLang="en-US" sz="1000" dirty="0"/>
              <a:t>에피소드마다 총 보상</a:t>
            </a:r>
            <a:r>
              <a:rPr lang="en-US" altLang="ko-KR" sz="1000" dirty="0"/>
              <a:t>(</a:t>
            </a:r>
            <a:r>
              <a:rPr lang="ko-KR" altLang="en-US" sz="1000" dirty="0"/>
              <a:t>완전 시청 예측 성공 수</a:t>
            </a:r>
            <a:r>
              <a:rPr lang="en-US" altLang="ko-KR" sz="1000" dirty="0"/>
              <a:t>)</a:t>
            </a:r>
            <a:r>
              <a:rPr lang="ko-KR" altLang="en-US" sz="1000" dirty="0"/>
              <a:t>이 크게 흔들리지만</a:t>
            </a:r>
            <a:r>
              <a:rPr lang="en-US" altLang="ko-KR" sz="1000" dirty="0"/>
              <a:t>, </a:t>
            </a:r>
            <a:r>
              <a:rPr lang="ko-KR" altLang="en-US" sz="1000" dirty="0"/>
              <a:t>전반적으로 </a:t>
            </a:r>
            <a:r>
              <a:rPr lang="en-US" altLang="ko-KR" sz="1000" dirty="0"/>
              <a:t>150~200 </a:t>
            </a:r>
            <a:r>
              <a:rPr lang="ko-KR" altLang="en-US" sz="1000" dirty="0"/>
              <a:t>사이에서 유지되며 일정 수준의 정책을 학습한다</a:t>
            </a:r>
            <a:r>
              <a:rPr lang="en-US" altLang="ko-KR" sz="1000" dirty="0"/>
              <a:t>.</a:t>
            </a:r>
          </a:p>
          <a:p>
            <a:pPr marL="139700" indent="0">
              <a:buNone/>
            </a:pPr>
            <a:endParaRPr lang="en-US" altLang="ko-KR" sz="1000" dirty="0"/>
          </a:p>
          <a:p>
            <a:pPr marL="139700" indent="0">
              <a:buNone/>
            </a:pPr>
            <a:r>
              <a:rPr lang="en-US" altLang="ko-KR" sz="1000" dirty="0"/>
              <a:t>2) Q-Learning Training Progress (Average Reward)</a:t>
            </a:r>
          </a:p>
          <a:p>
            <a:pPr marL="139700" indent="0">
              <a:buNone/>
            </a:pPr>
            <a:r>
              <a:rPr lang="ko-KR" altLang="en-US" sz="1000" dirty="0"/>
              <a:t>평균 보상 역시 변동성이 크지만 평균적으로 약 </a:t>
            </a:r>
            <a:r>
              <a:rPr lang="en-US" altLang="ko-KR" sz="1000" dirty="0"/>
              <a:t>0.7~0.8 </a:t>
            </a:r>
            <a:r>
              <a:rPr lang="ko-KR" altLang="en-US" sz="1000" dirty="0"/>
              <a:t>근처에 수렴한다</a:t>
            </a:r>
            <a:r>
              <a:rPr lang="en-US" altLang="ko-KR" sz="1000" dirty="0"/>
              <a:t>.</a:t>
            </a:r>
          </a:p>
          <a:p>
            <a:pPr marL="139700" indent="0">
              <a:buNone/>
            </a:pPr>
            <a:r>
              <a:rPr lang="en-US" altLang="ko-KR" sz="1000" dirty="0"/>
              <a:t>→ Q-Learning</a:t>
            </a:r>
            <a:r>
              <a:rPr lang="ko-KR" altLang="en-US" sz="1000" dirty="0"/>
              <a:t>이 완전 시청을 안정적으로 예측하는 정책을 형성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145148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ADC28C9-9CFD-4746-0C76-0C1F320B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A158AA00-A75C-D319-9608-BFFC7F5C9F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실험 결과</a:t>
            </a:r>
            <a:endParaRPr sz="25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DAAD45-C0A2-0ECC-14DA-BC83FB5BC7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14</a:t>
            </a:fld>
            <a:endParaRPr lang="ko" altLang="en-US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A4805489-2173-3E30-3674-A95A67DC0BB5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9E7F3610-B630-DD33-29B2-F1E87C72EAE1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D5EBAD91-F72D-EB05-9AB5-460CBC90609E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pic>
        <p:nvPicPr>
          <p:cNvPr id="13" name="그림 12" descr="텍스트, 친필, 폰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EF579D-EC1F-B240-D704-D603945209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11"/>
          <a:stretch>
            <a:fillRect/>
          </a:stretch>
        </p:blipFill>
        <p:spPr>
          <a:xfrm>
            <a:off x="67350" y="1204408"/>
            <a:ext cx="8956740" cy="2296800"/>
          </a:xfrm>
          <a:prstGeom prst="rect">
            <a:avLst/>
          </a:prstGeom>
        </p:spPr>
      </p:pic>
      <p:sp>
        <p:nvSpPr>
          <p:cNvPr id="14" name="텍스트 개체 틀 5">
            <a:extLst>
              <a:ext uri="{FF2B5EF4-FFF2-40B4-BE49-F238E27FC236}">
                <a16:creationId xmlns:a16="http://schemas.microsoft.com/office/drawing/2014/main" id="{4CA5FF87-9097-A41F-6D10-E04A0D108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570" y="3586295"/>
            <a:ext cx="6579200" cy="1299467"/>
          </a:xfrm>
        </p:spPr>
        <p:txBody>
          <a:bodyPr>
            <a:noAutofit/>
          </a:bodyPr>
          <a:lstStyle/>
          <a:p>
            <a:pPr marL="139700" indent="0">
              <a:buNone/>
            </a:pPr>
            <a:r>
              <a:rPr lang="en-US" altLang="ko-KR" sz="1000" dirty="0"/>
              <a:t>3) DQN Training Progress (Total Reward)</a:t>
            </a:r>
          </a:p>
          <a:p>
            <a:pPr marL="139700" indent="0">
              <a:buNone/>
            </a:pPr>
            <a:r>
              <a:rPr lang="ko-KR" altLang="en-US" sz="1000" dirty="0"/>
              <a:t>총 보상은 초반에 불안정하나 빠르게 일정 범위</a:t>
            </a:r>
            <a:r>
              <a:rPr lang="en-US" altLang="ko-KR" sz="1000" dirty="0"/>
              <a:t>(50~90)</a:t>
            </a:r>
            <a:r>
              <a:rPr lang="ko-KR" altLang="en-US" sz="1000" dirty="0"/>
              <a:t>로 모이며 </a:t>
            </a:r>
            <a:r>
              <a:rPr lang="en-US" altLang="ko-KR" sz="1000" dirty="0"/>
              <a:t>Q-Learning</a:t>
            </a:r>
            <a:r>
              <a:rPr lang="ko-KR" altLang="en-US" sz="1000" dirty="0"/>
              <a:t>보다 낮은 값에서 수렴한다</a:t>
            </a:r>
            <a:r>
              <a:rPr lang="en-US" altLang="ko-KR" sz="1000" dirty="0"/>
              <a:t>.</a:t>
            </a:r>
          </a:p>
          <a:p>
            <a:pPr marL="139700" indent="0">
              <a:buNone/>
            </a:pPr>
            <a:r>
              <a:rPr lang="en-US" altLang="ko-KR" sz="1000" dirty="0"/>
              <a:t>→ </a:t>
            </a:r>
            <a:r>
              <a:rPr lang="ko-KR" altLang="en-US" sz="1000" dirty="0"/>
              <a:t>모델 용량 대비 데이터 구조가 단순하여 </a:t>
            </a:r>
            <a:r>
              <a:rPr lang="en-US" altLang="ko-KR" sz="1000" dirty="0"/>
              <a:t>DQN</a:t>
            </a:r>
            <a:r>
              <a:rPr lang="ko-KR" altLang="en-US" sz="1000" dirty="0"/>
              <a:t>이 충분한 이득을 얻지 못한다</a:t>
            </a:r>
            <a:r>
              <a:rPr lang="en-US" altLang="ko-KR" sz="1000" dirty="0"/>
              <a:t>.</a:t>
            </a:r>
          </a:p>
          <a:p>
            <a:pPr marL="139700" indent="0">
              <a:buNone/>
            </a:pPr>
            <a:endParaRPr lang="en-US" altLang="ko-KR" sz="1000" dirty="0"/>
          </a:p>
          <a:p>
            <a:pPr marL="139700" indent="0">
              <a:buNone/>
            </a:pPr>
            <a:r>
              <a:rPr lang="en-US" altLang="ko-KR" sz="1000" dirty="0"/>
              <a:t>4) DQN Training Progress (Average Reward)</a:t>
            </a:r>
          </a:p>
          <a:p>
            <a:pPr marL="139700" indent="0">
              <a:buNone/>
            </a:pPr>
            <a:r>
              <a:rPr lang="ko-KR" altLang="en-US" sz="1000" dirty="0"/>
              <a:t>평균 보상은 </a:t>
            </a:r>
            <a:r>
              <a:rPr lang="en-US" altLang="ko-KR" sz="1000" dirty="0"/>
              <a:t>0.6~0.8 </a:t>
            </a:r>
            <a:r>
              <a:rPr lang="ko-KR" altLang="en-US" sz="1000" dirty="0"/>
              <a:t>사이에서 진동하며 안정성은 </a:t>
            </a:r>
            <a:r>
              <a:rPr lang="en-US" altLang="ko-KR" sz="1000" dirty="0"/>
              <a:t>Q-Learning</a:t>
            </a:r>
            <a:r>
              <a:rPr lang="ko-KR" altLang="en-US" sz="1000" dirty="0"/>
              <a:t>보다 다소 떨어진다</a:t>
            </a:r>
            <a:r>
              <a:rPr lang="en-US" altLang="ko-KR" sz="1000" dirty="0"/>
              <a:t>.</a:t>
            </a:r>
          </a:p>
          <a:p>
            <a:pPr marL="139700" indent="0">
              <a:buNone/>
            </a:pPr>
            <a:r>
              <a:rPr lang="en-US" altLang="ko-KR" sz="1000" dirty="0"/>
              <a:t>→ DQN</a:t>
            </a:r>
            <a:r>
              <a:rPr lang="ko-KR" altLang="en-US" sz="1000" dirty="0"/>
              <a:t>의 정책 품질이 상대적으로 일관되지 않음을 보여준다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74105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FCFFDA-E0F7-447C-5E3E-46C91D7D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286B90A1-18E6-187C-AF94-DD9CE0A9E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dirty="0">
                <a:solidFill>
                  <a:srgbClr val="222222"/>
                </a:solidFill>
                <a:highlight>
                  <a:srgbClr val="FFFFFF"/>
                </a:highlight>
              </a:rPr>
              <a:t>실험 결과</a:t>
            </a:r>
            <a:endParaRPr sz="25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C7D0D4-6D0B-624A-3BFF-B4185E3200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15</a:t>
            </a:fld>
            <a:endParaRPr lang="ko" altLang="en-US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FB33F129-4F99-3629-AB5A-49BBEB15E6ED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959A3DCE-A83B-A0E7-F865-03740EEFF2F0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A65FF4B5-657D-1AC6-6F27-19E5B4059E30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pic>
        <p:nvPicPr>
          <p:cNvPr id="7" name="그림 6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3CA631-248D-EE8C-F09C-E57F25E94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1204071"/>
            <a:ext cx="7061200" cy="3026228"/>
          </a:xfrm>
          <a:prstGeom prst="rect">
            <a:avLst/>
          </a:prstGeom>
        </p:spPr>
      </p:pic>
      <p:sp>
        <p:nvSpPr>
          <p:cNvPr id="8" name="텍스트 개체 틀 5">
            <a:extLst>
              <a:ext uri="{FF2B5EF4-FFF2-40B4-BE49-F238E27FC236}">
                <a16:creationId xmlns:a16="http://schemas.microsoft.com/office/drawing/2014/main" id="{FC936A14-766A-4494-04A8-D07C51487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091" y="4258007"/>
            <a:ext cx="7407565" cy="572700"/>
          </a:xfrm>
        </p:spPr>
        <p:txBody>
          <a:bodyPr>
            <a:normAutofit/>
          </a:bodyPr>
          <a:lstStyle/>
          <a:p>
            <a:pPr marL="139700" indent="0" algn="ctr">
              <a:buNone/>
            </a:pPr>
            <a:r>
              <a:rPr lang="ko-KR" altLang="en-US" sz="1050" dirty="0"/>
              <a:t>두 알고리즘 모두 변동성이 크지만 전반적으로 </a:t>
            </a:r>
            <a:r>
              <a:rPr lang="en-US" altLang="ko-KR" sz="1050" dirty="0"/>
              <a:t>Q-Learning</a:t>
            </a:r>
            <a:r>
              <a:rPr lang="ko-KR" altLang="en-US" sz="1050" dirty="0"/>
              <a:t>이 더 높은 평균 보상을 유지한다</a:t>
            </a:r>
            <a:r>
              <a:rPr lang="en-US" altLang="ko-KR" sz="1050" dirty="0"/>
              <a:t>.</a:t>
            </a:r>
          </a:p>
          <a:p>
            <a:pPr marL="139700" indent="0" algn="ctr">
              <a:buNone/>
            </a:pPr>
            <a:r>
              <a:rPr lang="en-US" altLang="ko-KR" sz="1050" dirty="0"/>
              <a:t>→ </a:t>
            </a:r>
            <a:r>
              <a:rPr lang="ko-KR" altLang="en-US" sz="1050" dirty="0"/>
              <a:t>본 실험 환경</a:t>
            </a:r>
            <a:r>
              <a:rPr lang="en-US" altLang="ko-KR" sz="1050" dirty="0"/>
              <a:t>(</a:t>
            </a:r>
            <a:r>
              <a:rPr lang="ko-KR" altLang="en-US" sz="1050" dirty="0"/>
              <a:t>단일 스텝 </a:t>
            </a:r>
            <a:r>
              <a:rPr lang="en-US" altLang="ko-KR" sz="1050" dirty="0"/>
              <a:t>Bandit </a:t>
            </a:r>
            <a:r>
              <a:rPr lang="ko-KR" altLang="en-US" sz="1050" dirty="0"/>
              <a:t>구조</a:t>
            </a:r>
            <a:r>
              <a:rPr lang="en-US" altLang="ko-KR" sz="1050" dirty="0"/>
              <a:t>)</a:t>
            </a:r>
            <a:r>
              <a:rPr lang="ko-KR" altLang="en-US" sz="1050" dirty="0"/>
              <a:t>에서는 </a:t>
            </a:r>
            <a:r>
              <a:rPr lang="en-US" altLang="ko-KR" sz="1050" dirty="0"/>
              <a:t>Q-Learning</a:t>
            </a:r>
            <a:r>
              <a:rPr lang="ko-KR" altLang="en-US" sz="1050" dirty="0"/>
              <a:t>이 </a:t>
            </a:r>
            <a:r>
              <a:rPr lang="en-US" altLang="ko-KR" sz="1050" dirty="0"/>
              <a:t>DQN</a:t>
            </a:r>
            <a:r>
              <a:rPr lang="ko-KR" altLang="en-US" sz="1050" dirty="0"/>
              <a:t>보다 더 적합함을 나타냄</a:t>
            </a:r>
            <a:r>
              <a:rPr lang="en-US" altLang="ko-KR" sz="105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4143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dirty="0">
                <a:solidFill>
                  <a:srgbClr val="222222"/>
                </a:solidFill>
                <a:highlight>
                  <a:srgbClr val="FFFFFF"/>
                </a:highlight>
              </a:rPr>
              <a:t>논의 및 결론</a:t>
            </a:r>
            <a:endParaRPr sz="2500" dirty="0"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27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altLang="ko-KR" sz="1100" dirty="0"/>
              <a:t>Q-Learning</a:t>
            </a:r>
            <a:r>
              <a:rPr lang="ko-KR" altLang="en-US" sz="1100" dirty="0"/>
              <a:t>과 </a:t>
            </a:r>
            <a:r>
              <a:rPr lang="en-US" altLang="ko-KR" sz="1100" dirty="0"/>
              <a:t>DQN</a:t>
            </a:r>
            <a:r>
              <a:rPr lang="ko-KR" altLang="en-US" sz="1100" dirty="0"/>
              <a:t>을 동일 조건에서 비교한 결과</a:t>
            </a:r>
            <a:r>
              <a:rPr lang="en-US" altLang="ko-KR" sz="1100" dirty="0"/>
              <a:t>, </a:t>
            </a:r>
            <a:r>
              <a:rPr lang="ko-KR" altLang="en-US" sz="1100" dirty="0"/>
              <a:t>두 알고리즘의 성능은 환경적 제약과 모델 구조의 특성에 따라 뚜렷한 차이를 보였다</a:t>
            </a:r>
            <a:r>
              <a:rPr lang="en-US" altLang="ko-KR" sz="1100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ko-KR" sz="1100" b="1" dirty="0"/>
              <a:t>1. Q-Learning</a:t>
            </a:r>
            <a:endParaRPr lang="en-US" altLang="ko-KR" sz="700" b="1" dirty="0"/>
          </a:p>
          <a:p>
            <a:pPr marL="0" indent="0">
              <a:spcAft>
                <a:spcPts val="1200"/>
              </a:spcAft>
              <a:buNone/>
            </a:pPr>
            <a:r>
              <a:rPr lang="ko-KR" altLang="en-US" sz="1100" dirty="0"/>
              <a:t> 전체적으로 더 안정적이고 일관된 학습 성능을 보였다</a:t>
            </a:r>
            <a:r>
              <a:rPr lang="en-US" altLang="ko-KR" sz="1100" dirty="0"/>
              <a:t>. </a:t>
            </a:r>
            <a:r>
              <a:rPr lang="ko-KR" altLang="en-US" sz="1100" dirty="0"/>
              <a:t>평균 보상은 약 </a:t>
            </a:r>
            <a:r>
              <a:rPr lang="en-US" altLang="ko-KR" sz="1100" dirty="0"/>
              <a:t>0.7~0.8 </a:t>
            </a:r>
            <a:r>
              <a:rPr lang="ko-KR" altLang="en-US" sz="1100" dirty="0"/>
              <a:t>수준으로 유지되고</a:t>
            </a:r>
            <a:r>
              <a:rPr lang="en-US" altLang="ko-KR" sz="1100" dirty="0"/>
              <a:t>, </a:t>
            </a:r>
            <a:r>
              <a:rPr lang="ko-KR" altLang="en-US" sz="1100" dirty="0"/>
              <a:t>에피소드별 보상 변동 폭도 상대적으로 작았다</a:t>
            </a:r>
            <a:r>
              <a:rPr lang="en-US" altLang="ko-KR" sz="1100" dirty="0"/>
              <a:t>. State</a:t>
            </a:r>
            <a:r>
              <a:rPr lang="ko-KR" altLang="en-US" sz="1100" dirty="0"/>
              <a:t>가 단순한 범주형 값</a:t>
            </a:r>
            <a:r>
              <a:rPr lang="en-US" altLang="ko-KR" sz="1100" dirty="0"/>
              <a:t>(</a:t>
            </a:r>
            <a:r>
              <a:rPr lang="en-US" altLang="ko-KR" sz="1100" dirty="0" err="1"/>
              <a:t>seg_id</a:t>
            </a:r>
            <a:r>
              <a:rPr lang="en-US" altLang="ko-KR" sz="1100" dirty="0"/>
              <a:t>)</a:t>
            </a:r>
            <a:r>
              <a:rPr lang="ko-KR" altLang="en-US" sz="1100" dirty="0"/>
              <a:t>이고</a:t>
            </a:r>
            <a:r>
              <a:rPr lang="en-US" altLang="ko-KR" sz="1100" dirty="0"/>
              <a:t>, Reward</a:t>
            </a:r>
            <a:r>
              <a:rPr lang="ko-KR" altLang="en-US" sz="1100" dirty="0"/>
              <a:t>도 단일 스텝에서 결정되는 </a:t>
            </a:r>
            <a:r>
              <a:rPr lang="en-US" altLang="ko-KR" sz="1100" dirty="0"/>
              <a:t>Bandit </a:t>
            </a:r>
            <a:r>
              <a:rPr lang="ko-KR" altLang="en-US" sz="1100" dirty="0"/>
              <a:t>구조라는 환경 특성상</a:t>
            </a:r>
            <a:r>
              <a:rPr lang="en-US" altLang="ko-KR" sz="1100" dirty="0"/>
              <a:t>, </a:t>
            </a:r>
            <a:r>
              <a:rPr lang="ko-KR" altLang="en-US" sz="1100" dirty="0"/>
              <a:t>테이블 기반 </a:t>
            </a:r>
            <a:r>
              <a:rPr lang="en-US" altLang="ko-KR" sz="1100" dirty="0"/>
              <a:t>Q-Learning</a:t>
            </a:r>
            <a:r>
              <a:rPr lang="ko-KR" altLang="en-US" sz="1100" dirty="0"/>
              <a:t>이 매우 적합함을 보여준다</a:t>
            </a:r>
            <a:r>
              <a:rPr lang="en-US" altLang="ko-KR" sz="1100" dirty="0"/>
              <a:t>.</a:t>
            </a:r>
            <a:endParaRPr lang="en-US" altLang="ko-KR" sz="700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ko-KR" sz="1100" b="1" dirty="0"/>
              <a:t>2. DQN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ko-KR" altLang="en-US" sz="1100" dirty="0"/>
              <a:t> 모델 복잡도에 비해 환경이 단순하여 성능이 발휘되지 못했다</a:t>
            </a:r>
            <a:r>
              <a:rPr lang="en-US" altLang="ko-KR" sz="1100" dirty="0"/>
              <a:t>. </a:t>
            </a:r>
            <a:r>
              <a:rPr lang="ko-KR" altLang="en-US" sz="1100" dirty="0"/>
              <a:t>초기 학습 변동성이 크고 수렴이 불안정했으며</a:t>
            </a:r>
            <a:r>
              <a:rPr lang="en-US" altLang="ko-KR" sz="1100" dirty="0"/>
              <a:t>, Q-Learning </a:t>
            </a:r>
            <a:r>
              <a:rPr lang="ko-KR" altLang="en-US" sz="1100" dirty="0"/>
              <a:t>대비 평균 보상과 정책 일치율에서도 낮은 결과를 보였다</a:t>
            </a:r>
            <a:r>
              <a:rPr lang="en-US" altLang="ko-KR" sz="1100" dirty="0"/>
              <a:t>. </a:t>
            </a:r>
            <a:r>
              <a:rPr lang="ko-KR" altLang="en-US" sz="1100" dirty="0"/>
              <a:t>신경망 기반 모델은 이 프로젝트처럼 구조가 단순하고 연속적인 시퀀스가 없는 환경에서는 오히려 과적합과 불안정성이 발생하기 쉽다</a:t>
            </a:r>
            <a:r>
              <a:rPr lang="en-US" altLang="ko-KR" sz="1100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ko-KR" sz="1100" b="1" dirty="0"/>
              <a:t>3. </a:t>
            </a:r>
            <a:r>
              <a:rPr lang="ko-KR" altLang="en-US" sz="1100" b="1" dirty="0"/>
              <a:t>환경 자체의 구조적 제약도 중요한 한계점으로 작용</a:t>
            </a:r>
            <a:endParaRPr lang="en-US" altLang="ko-KR" sz="1100" b="1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ko-KR" sz="1100" dirty="0"/>
              <a:t> </a:t>
            </a:r>
            <a:r>
              <a:rPr lang="ko-KR" altLang="en-US" sz="1100" dirty="0"/>
              <a:t>실제 </a:t>
            </a:r>
            <a:r>
              <a:rPr lang="en-US" altLang="ko-KR" sz="1100" dirty="0"/>
              <a:t>IPTV </a:t>
            </a:r>
            <a:r>
              <a:rPr lang="ko-KR" altLang="en-US" sz="1100" dirty="0"/>
              <a:t>로그 데이터에서 명확한 상태 전이가 제공되지 않아 </a:t>
            </a:r>
            <a:r>
              <a:rPr lang="en-US" altLang="ko-KR" sz="1100" dirty="0" err="1"/>
              <a:t>next_state</a:t>
            </a:r>
            <a:r>
              <a:rPr lang="ko-KR" altLang="en-US" sz="1100" dirty="0"/>
              <a:t>를 임의로 선택해서 강화학습이 의도하는 장기 의사결정</a:t>
            </a:r>
            <a:r>
              <a:rPr lang="en-US" altLang="ko-KR" sz="1100" dirty="0"/>
              <a:t>(MDP </a:t>
            </a:r>
            <a:r>
              <a:rPr lang="ko-KR" altLang="en-US" sz="1100" dirty="0"/>
              <a:t>방식의 학습</a:t>
            </a:r>
            <a:r>
              <a:rPr lang="en-US" altLang="ko-KR" sz="1100" dirty="0"/>
              <a:t>)</a:t>
            </a:r>
            <a:r>
              <a:rPr lang="ko-KR" altLang="en-US" sz="1100" dirty="0"/>
              <a:t>을 수행할 수 없게 만들었다</a:t>
            </a:r>
            <a:r>
              <a:rPr lang="en-US" altLang="ko-KR" sz="1100" dirty="0"/>
              <a:t>. </a:t>
            </a:r>
            <a:r>
              <a:rPr lang="ko-KR" altLang="en-US" sz="1100" dirty="0"/>
              <a:t>결국 강화학습이 아닌 </a:t>
            </a:r>
            <a:r>
              <a:rPr lang="en-US" altLang="ko-KR" sz="1100" dirty="0"/>
              <a:t>Contextual Bandit </a:t>
            </a:r>
            <a:r>
              <a:rPr lang="ko-KR" altLang="en-US" sz="1100" dirty="0"/>
              <a:t>문제로 단순화되었으며</a:t>
            </a:r>
            <a:r>
              <a:rPr lang="en-US" altLang="ko-KR" sz="1100" dirty="0"/>
              <a:t>, </a:t>
            </a:r>
            <a:r>
              <a:rPr lang="ko-KR" altLang="en-US" sz="1100" dirty="0"/>
              <a:t>이로 인해 </a:t>
            </a:r>
            <a:r>
              <a:rPr lang="en-US" altLang="ko-KR" sz="1100" dirty="0"/>
              <a:t>Q-Learning</a:t>
            </a:r>
            <a:r>
              <a:rPr lang="ko-KR" altLang="en-US" sz="1100" dirty="0"/>
              <a:t>이 </a:t>
            </a:r>
            <a:r>
              <a:rPr lang="en-US" altLang="ko-KR" sz="1100" dirty="0"/>
              <a:t>DQN</a:t>
            </a:r>
            <a:r>
              <a:rPr lang="ko-KR" altLang="en-US" sz="1100" dirty="0"/>
              <a:t>보다 우수한 결과를 보일 수 밖에 없게 되었다</a:t>
            </a:r>
            <a:r>
              <a:rPr lang="en-US" altLang="ko-KR" sz="1100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ko-KR" altLang="en-US" sz="1100" dirty="0"/>
              <a:t> 부족한 환경이지만 이 프로젝트를 통해서 광고 완전 시청률을 보상으로 설정하여 정책을 학습하고</a:t>
            </a:r>
            <a:r>
              <a:rPr lang="en-US" altLang="ko-KR" sz="1100" dirty="0"/>
              <a:t>, </a:t>
            </a:r>
            <a:r>
              <a:rPr lang="ko-KR" altLang="en-US" sz="1100" dirty="0"/>
              <a:t>세그먼트별 최적 광고를 추천하는 강화학습 기반 접근 방식이 실제 데이터에서 작동 가능하다는 점을 확인한 것에서 의미가 있다</a:t>
            </a:r>
            <a:r>
              <a:rPr lang="en-US" altLang="ko-KR" sz="1100" dirty="0"/>
              <a:t>. </a:t>
            </a:r>
            <a:r>
              <a:rPr lang="ko-KR" altLang="en-US" sz="1100" dirty="0"/>
              <a:t>액션 </a:t>
            </a:r>
            <a:r>
              <a:rPr lang="ko-KR" altLang="en-US" sz="1100" dirty="0" err="1"/>
              <a:t>매칭률과</a:t>
            </a:r>
            <a:r>
              <a:rPr lang="ko-KR" altLang="en-US" sz="1100" dirty="0"/>
              <a:t> 완전 시청 </a:t>
            </a:r>
            <a:r>
              <a:rPr lang="ko-KR" altLang="en-US" sz="1100" dirty="0" err="1"/>
              <a:t>달성률</a:t>
            </a:r>
            <a:r>
              <a:rPr lang="ko-KR" altLang="en-US" sz="1100" dirty="0"/>
              <a:t> 평가에서도 강화학습 정책이 일정 수준의 예측 및 추천 성능을 보여</a:t>
            </a:r>
            <a:r>
              <a:rPr lang="en-US" altLang="ko-KR" sz="1100" dirty="0"/>
              <a:t>, IPTV </a:t>
            </a:r>
            <a:r>
              <a:rPr lang="ko-KR" altLang="en-US" sz="1100" dirty="0"/>
              <a:t>광고 추천 시스템의 자동화 가능성을 제시하였다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4D213FB5-40E8-3609-168E-112EDF7BCA76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BB833693-C80C-DFF1-6060-3B3015315CA9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D072A574-C5B0-ACED-7E00-D55B19046765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0A5A75-DFAC-4902-96FB-3CF2A56E16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16</a:t>
            </a:fld>
            <a:endParaRPr lang="ko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BC5DF66-8C7B-DAB7-594A-CA1795FA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>
            <a:extLst>
              <a:ext uri="{FF2B5EF4-FFF2-40B4-BE49-F238E27FC236}">
                <a16:creationId xmlns:a16="http://schemas.microsoft.com/office/drawing/2014/main" id="{5B122E8D-7476-D059-5C0F-CB55664ADA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dirty="0">
                <a:solidFill>
                  <a:srgbClr val="222222"/>
                </a:solidFill>
                <a:highlight>
                  <a:srgbClr val="FFFFFF"/>
                </a:highlight>
              </a:rPr>
              <a:t>앞으로의 개선사항과 보완점</a:t>
            </a:r>
            <a:endParaRPr sz="2500" dirty="0"/>
          </a:p>
        </p:txBody>
      </p:sp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8F19E6C9-32D4-DCC3-E232-BDB9D5E9D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724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latinLnBrk="0">
              <a:buNone/>
            </a:pPr>
            <a:r>
              <a:rPr lang="ko-KR" altLang="en-US" sz="1100" dirty="0"/>
              <a:t>이 프로젝트의 한계를 해결하고 강화학습을 활용한 장점을 극대화하기 위해서는 여러 개선이 필요하다</a:t>
            </a:r>
            <a:r>
              <a:rPr lang="en-US" altLang="ko-KR" sz="1100" dirty="0"/>
              <a:t>.</a:t>
            </a:r>
          </a:p>
          <a:p>
            <a:pPr marL="114300" indent="0" latinLnBrk="0">
              <a:buNone/>
            </a:pPr>
            <a:endParaRPr lang="en-US" altLang="ko-KR" sz="1000" dirty="0"/>
          </a:p>
          <a:p>
            <a:pPr marL="114300" indent="0" latinLnBrk="0">
              <a:buNone/>
            </a:pPr>
            <a:r>
              <a:rPr lang="en-US" altLang="ko-KR" sz="1000" b="1" dirty="0"/>
              <a:t>1. MDP </a:t>
            </a:r>
            <a:r>
              <a:rPr lang="ko-KR" altLang="en-US" sz="1000" b="1" dirty="0"/>
              <a:t>기반 환경 구축</a:t>
            </a:r>
            <a:endParaRPr lang="ko-KR" altLang="en-US" sz="1000" dirty="0"/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사용자 시청 과정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스킵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이탈 시간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다음 시청 행동 등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상태 전이로 정의</a:t>
            </a: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여러 광고 노출이 연속적으로 발생하는 시나리오 구성 필요</a:t>
            </a: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통해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DQN, PPO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같은 고급 알고리즘의 장점이 드러날 수 있음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4300" indent="0" latinLnBrk="0">
              <a:buNone/>
            </a:pPr>
            <a:r>
              <a:rPr lang="en-US" altLang="ko-KR" sz="1000" b="1" dirty="0"/>
              <a:t>2. </a:t>
            </a:r>
            <a:r>
              <a:rPr lang="ko-KR" altLang="en-US" sz="1000" b="1" dirty="0"/>
              <a:t>더 다양하고 많은 상태 정보 활용</a:t>
            </a:r>
            <a:endParaRPr lang="ko-KR" altLang="en-US" sz="1000" dirty="0"/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단순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seg_id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만으로는 개인화를 충분히 반영하기 어려우므로 사용자의 최근 시청 패턴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데모그래픽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시청 시간대 등을 포함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4300" indent="0" latinLnBrk="0">
              <a:buNone/>
            </a:pPr>
            <a:r>
              <a:rPr lang="en-US" altLang="ko-KR" sz="1000" b="1" dirty="0"/>
              <a:t>3. Reward </a:t>
            </a:r>
            <a:r>
              <a:rPr lang="ko-KR" altLang="en-US" sz="1000" b="1" dirty="0"/>
              <a:t>세분화를 통한 품질 향상</a:t>
            </a:r>
            <a:endParaRPr lang="ko-KR" altLang="en-US" sz="1000" dirty="0"/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0/1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100%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시청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+1, 70~99%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시청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+0.5,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바로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스킵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-1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같이 보상을 더 세분화해서 정책 학습 품질 향상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4300" indent="0" latinLnBrk="0">
              <a:buNone/>
            </a:pPr>
            <a:r>
              <a:rPr lang="en-US" altLang="ko-KR" sz="1000" b="1" dirty="0"/>
              <a:t>4. </a:t>
            </a:r>
            <a:r>
              <a:rPr lang="ko-KR" altLang="en-US" sz="1000" b="1" dirty="0"/>
              <a:t>다양한 알고리즘 비교 추가 필요</a:t>
            </a:r>
            <a:endParaRPr lang="ko-KR" altLang="en-US" sz="1000" dirty="0"/>
          </a:p>
          <a:p>
            <a:pPr lvl="1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Bandit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(UCB, Thompson Sampling)</a:t>
            </a:r>
          </a:p>
          <a:p>
            <a:pPr lvl="1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Actor-Critic(PPO, A2C)</a:t>
            </a:r>
          </a:p>
          <a:p>
            <a:pPr lvl="1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Contextual Bandit + Representation Learning</a:t>
            </a:r>
          </a:p>
          <a:p>
            <a:pPr lvl="1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단일 알고리즘 비교만으로는 충분한 결론 도출에 한계가 있으므로 다양한 비교가 필요하다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Group 392">
            <a:extLst>
              <a:ext uri="{FF2B5EF4-FFF2-40B4-BE49-F238E27FC236}">
                <a16:creationId xmlns:a16="http://schemas.microsoft.com/office/drawing/2014/main" id="{1B48CC3D-F006-598B-D44B-086615000F13}"/>
              </a:ext>
            </a:extLst>
          </p:cNvPr>
          <p:cNvGrpSpPr/>
          <p:nvPr/>
        </p:nvGrpSpPr>
        <p:grpSpPr>
          <a:xfrm>
            <a:off x="237812" y="1006374"/>
            <a:ext cx="8675147" cy="127210"/>
            <a:chOff x="0" y="0"/>
            <a:chExt cx="11657498" cy="0"/>
          </a:xfrm>
        </p:grpSpPr>
        <p:sp>
          <p:nvSpPr>
            <p:cNvPr id="3" name="Shape 390">
              <a:extLst>
                <a:ext uri="{FF2B5EF4-FFF2-40B4-BE49-F238E27FC236}">
                  <a16:creationId xmlns:a16="http://schemas.microsoft.com/office/drawing/2014/main" id="{1A41D26D-4C5A-5116-E504-1297BBE8FFF6}"/>
                </a:ext>
              </a:extLst>
            </p:cNvPr>
            <p:cNvSpPr/>
            <p:nvPr/>
          </p:nvSpPr>
          <p:spPr>
            <a:xfrm>
              <a:off x="0" y="0"/>
              <a:ext cx="11657498" cy="0"/>
            </a:xfrm>
            <a:prstGeom prst="line">
              <a:avLst/>
            </a:prstGeom>
            <a:noFill/>
            <a:ln w="254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Shape 391">
              <a:extLst>
                <a:ext uri="{FF2B5EF4-FFF2-40B4-BE49-F238E27FC236}">
                  <a16:creationId xmlns:a16="http://schemas.microsoft.com/office/drawing/2014/main" id="{889BF311-5F59-A98D-CA8C-01B9F51B529D}"/>
                </a:ext>
              </a:extLst>
            </p:cNvPr>
            <p:cNvSpPr/>
            <p:nvPr/>
          </p:nvSpPr>
          <p:spPr>
            <a:xfrm>
              <a:off x="12700" y="0"/>
              <a:ext cx="145638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defRPr sz="30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801814-D3F7-FD9C-54C2-081785EE0A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17</a:t>
            </a:fld>
            <a:endParaRPr lang="ko" altLang="en-US" dirty="0"/>
          </a:p>
        </p:txBody>
      </p:sp>
    </p:spTree>
    <p:extLst>
      <p:ext uri="{BB962C8B-B14F-4D97-AF65-F5344CB8AC3E}">
        <p14:creationId xmlns:p14="http://schemas.microsoft.com/office/powerpoint/2010/main" val="3779104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DB2152C-B357-0012-3F79-3885CBEC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47C5D7D-3D9C-9624-EEF6-08733A850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28" y="861732"/>
            <a:ext cx="7535343" cy="2460195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9D100169-3E21-B76A-B086-0505A2F3B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38" y="1344327"/>
            <a:ext cx="7147453" cy="1151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pitchFamily="34" charset="0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itchFamily="34" charset="0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itchFamily="34" charset="0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itchFamily="34" charset="0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pitchFamily="34" charset="0"/>
              </a:defRPr>
            </a:lvl9pPr>
          </a:lstStyle>
          <a:p>
            <a:pPr algn="ctr" eaLnBrk="1" hangingPunct="1">
              <a:lnSpc>
                <a:spcPct val="200000"/>
              </a:lnSpc>
            </a:pPr>
            <a:r>
              <a:rPr lang="ko-KR" altLang="en-US" sz="4000" b="1" spc="6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Black" panose="020B0A02040204020203" pitchFamily="34" charset="0"/>
              </a:rPr>
              <a:t>감사합니다</a:t>
            </a:r>
            <a:r>
              <a:rPr lang="en-US" altLang="ko-KR" sz="4000" b="1" spc="6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Black" panose="020B0A02040204020203" pitchFamily="34" charset="0"/>
              </a:rPr>
              <a:t>.</a:t>
            </a:r>
            <a:endParaRPr lang="ru-RU" altLang="ko-KR" sz="2000" b="1" spc="600" dirty="0">
              <a:solidFill>
                <a:schemeClr val="bg2">
                  <a:lumMod val="25000"/>
                </a:schemeClr>
              </a:solidFill>
              <a:latin typeface="나눔스퀘어 ExtraBold" panose="020B0600000101010101" pitchFamily="50" charset="-127"/>
              <a:ea typeface="맑은 고딕" panose="020B0503020000020004" pitchFamily="50" charset="-127"/>
              <a:cs typeface="Segoe UI Black" panose="020B0A02040204020203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D30691-258E-705A-EF49-3401FF372D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18</a:t>
            </a:fld>
            <a:endParaRPr lang="ko" altLang="en-US" dirty="0"/>
          </a:p>
        </p:txBody>
      </p:sp>
    </p:spTree>
    <p:extLst>
      <p:ext uri="{BB962C8B-B14F-4D97-AF65-F5344CB8AC3E}">
        <p14:creationId xmlns:p14="http://schemas.microsoft.com/office/powerpoint/2010/main" val="39591699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2425</Words>
  <Application>Microsoft Office PowerPoint</Application>
  <PresentationFormat>화면 슬라이드 쇼(16:9)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나눔스퀘어 ExtraBold</vt:lpstr>
      <vt:lpstr>맑은 고딕</vt:lpstr>
      <vt:lpstr>Arial</vt:lpstr>
      <vt:lpstr>Simple Light</vt:lpstr>
      <vt:lpstr>PowerPoint 프레젠테이션</vt:lpstr>
      <vt:lpstr>목차</vt:lpstr>
      <vt:lpstr>프로젝트 주제 및 목표</vt:lpstr>
      <vt:lpstr>실행 환경</vt:lpstr>
      <vt:lpstr>데이터셋</vt:lpstr>
      <vt:lpstr>State, Action, Reward 설계</vt:lpstr>
      <vt:lpstr>강화학습 알고리즘 및 hyperparameter</vt:lpstr>
      <vt:lpstr>실험 셋업</vt:lpstr>
      <vt:lpstr>평가 지표</vt:lpstr>
      <vt:lpstr>실험 결과(Q-learning)</vt:lpstr>
      <vt:lpstr>실험 결과(DQN)</vt:lpstr>
      <vt:lpstr>실험 결과</vt:lpstr>
      <vt:lpstr>실험 결과</vt:lpstr>
      <vt:lpstr>실험 결과</vt:lpstr>
      <vt:lpstr>실험 결과</vt:lpstr>
      <vt:lpstr>논의 및 결론</vt:lpstr>
      <vt:lpstr>앞으로의 개선사항과 보완점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Heidi Kang</dc:creator>
  <cp:lastModifiedBy>강보현</cp:lastModifiedBy>
  <cp:revision>21</cp:revision>
  <dcterms:modified xsi:type="dcterms:W3CDTF">2025-12-07T12:52:36Z</dcterms:modified>
</cp:coreProperties>
</file>